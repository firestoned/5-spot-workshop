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Today is hands-on: a capture-the-flag built directly on 5-Spot. 2.5–3 hours of lab time, breaks and Q&amp;A around it. Everything you need is in the 5-spot-workshop repo; slides are just the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economic setup. Regulated shops can't just autoscale into public spot markets, so capacity runs around the clock for workloads that live in windows. The waste is structural, and manual reclaim has no audit trail.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Mechanics in one picture. You declare a ScheduledMachine; the controller expands it into the bootstrap config, the infrastructure machine, and the CAPI Machine, and reconciles every ~60 seconds. Provider-agnostic: today you'll see both DockerMachine and RemoteMachine behind the same spec.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phases plus two side states (Disabled, Terminated, Error). Flag 3 is literally driving this state machine: disable the schedule, watch ShuttingDown respect gracefulShutdownTimeout and nodeDrainTimeout, land in Inactive. Full diagram: 5spot.finos.org machine-lifecycle.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expectations: minimal slides, maximal terminal. Timing is elastic — fast teams hit the double-star bonus; everyone should land Flag 3. Teams or solo both fine; leaderboard is social glue, not a grade.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candid that CAPD is a shortcut — the intro page says so in bold. The k0smotron track is the production-representative one; it's also heavier, which is why both exist. Many will do green first, blue second.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Per-OS guidance: Mac → Colima (setup-mac.sh installs everything including Colima itself); Windows → Codespaces or Killercoda, don't fight WSL nested virt; Linux → anything, and it's the best host for the Confidential Containers bonus. The bootstrap script is idempotent and has --check-only.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Flags 1–3 are the spine — everyone should capture them. The bonuses are stretch by design: Flux needs the repo public; CoCo needs nested virt on the worker host, so it's realistically a local-Linux flex. Verifiers print hints on failure — failing CHECK is a feature.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Common stalls: clusterctl not on the v1.9 line (the v1beta1 footgun), or on the k0smotron track an SSH/key issue between the management cluster and the target host — the verifier hints cover both. Remind people about the ~60s reconcile tick.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negative test matters as much as the positive one — show the Pending pod first. nodeTaints comes straight from the ScheduledMachine spec, so the policy is declared next to the schedule, in Git, auditable.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product's whole thesis: removal is graceful, bounded, observable. Have teams watch both panes — the SM phase on the management cluster and nodes/pods on the workload cluster. The kill switch demo gets the best reactions; do it live at the front if energy dips.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Pitch the bonuses honestly: Flux is reachable for most; CoCo is a true stretch with hardware prerequisites, k0smotron track only. The closing line is the message to take back to your risk committee.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slide up during the first lab block. Repeat the help ladder verbally — senior crowds under-ask.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contribution ask — this audience is exactly who should be filing issues against an incubating project. Swap in the real workshop repo URL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1.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1078992"/>
            <a:ext cx="2286000" cy="2286000"/>
          </a:xfrm>
          <a:prstGeom prst="rect">
            <a:avLst/>
          </a:prstGeom>
        </p:spPr>
      </p:pic>
      <p:sp>
        <p:nvSpPr>
          <p:cNvPr id="3" name="Text 0"/>
          <p:cNvSpPr/>
          <p:nvPr/>
        </p:nvSpPr>
        <p:spPr>
          <a:xfrm>
            <a:off x="3200400" y="1234440"/>
            <a:ext cx="5486400" cy="868680"/>
          </a:xfrm>
          <a:prstGeom prst="rect">
            <a:avLst/>
          </a:prstGeom>
          <a:noFill/>
          <a:ln/>
        </p:spPr>
        <p:txBody>
          <a:bodyPr wrap="square" lIns="0" tIns="0" rIns="0" bIns="0" rtlCol="0" anchor="ctr"/>
          <a:lstStyle/>
          <a:p>
            <a:pPr indent="0" marL="0">
              <a:buNone/>
            </a:pPr>
            <a:r>
              <a:rPr lang="en-US" sz="4100" b="1" spc="200" kern="0" dirty="0">
                <a:solidFill>
                  <a:srgbClr val="FFFFFF"/>
                </a:solidFill>
                <a:latin typeface="Cambria" pitchFamily="34" charset="0"/>
                <a:ea typeface="Cambria" pitchFamily="34" charset="-122"/>
                <a:cs typeface="Cambria" pitchFamily="34" charset="-120"/>
              </a:rPr>
              <a:t>RECLAIM THE IDLE</a:t>
            </a:r>
            <a:endParaRPr lang="en-US" sz="4100" dirty="0"/>
          </a:p>
        </p:txBody>
      </p:sp>
      <p:sp>
        <p:nvSpPr>
          <p:cNvPr id="4" name="Text 1"/>
          <p:cNvSpPr/>
          <p:nvPr/>
        </p:nvSpPr>
        <p:spPr>
          <a:xfrm>
            <a:off x="3200400" y="2121408"/>
            <a:ext cx="5394960" cy="685800"/>
          </a:xfrm>
          <a:prstGeom prst="rect">
            <a:avLst/>
          </a:prstGeom>
          <a:noFill/>
          <a:ln/>
        </p:spPr>
        <p:txBody>
          <a:bodyPr wrap="square" lIns="0" tIns="0" rIns="0" bIns="0" rtlCol="0" anchor="ctr"/>
          <a:lstStyle/>
          <a:p>
            <a:pPr indent="0" marL="0">
              <a:buNone/>
            </a:pPr>
            <a:r>
              <a:rPr lang="en-US" sz="1700" dirty="0">
                <a:solidFill>
                  <a:srgbClr val="CADCFC"/>
                </a:solidFill>
                <a:latin typeface="Calibri" pitchFamily="34" charset="0"/>
                <a:ea typeface="Calibri" pitchFamily="34" charset="-122"/>
                <a:cs typeface="Calibri" pitchFamily="34" charset="-120"/>
              </a:rPr>
              <a:t>A choose-your-own-adventure CTF on the 5-Spot machine scheduler</a:t>
            </a:r>
            <a:endParaRPr lang="en-US" sz="1700" dirty="0"/>
          </a:p>
        </p:txBody>
      </p:sp>
      <p:sp>
        <p:nvSpPr>
          <p:cNvPr id="5" name="Text 2"/>
          <p:cNvSpPr/>
          <p:nvPr/>
        </p:nvSpPr>
        <p:spPr>
          <a:xfrm>
            <a:off x="3200400" y="3063240"/>
            <a:ext cx="5394960" cy="640080"/>
          </a:xfrm>
          <a:prstGeom prst="rect">
            <a:avLst/>
          </a:prstGeom>
          <a:noFill/>
          <a:ln/>
        </p:spPr>
        <p:txBody>
          <a:bodyPr wrap="square" lIns="0" tIns="0" rIns="0" bIns="0" rtlCol="0" anchor="ctr"/>
          <a:lstStyle/>
          <a:p>
            <a:pPr indent="0" marL="0">
              <a:buNone/>
            </a:pPr>
            <a:r>
              <a:rPr lang="en-US" sz="1300" dirty="0">
                <a:solidFill>
                  <a:srgbClr val="CADCFC"/>
                </a:solidFill>
                <a:latin typeface="Calibri" pitchFamily="34" charset="0"/>
                <a:ea typeface="Calibri" pitchFamily="34" charset="-122"/>
                <a:cs typeface="Calibri" pitchFamily="34" charset="-120"/>
              </a:rPr>
              <a:t>OSFF Workshop · 24 June 2026</a:t>
            </a:r>
            <a:endParaRPr lang="en-US" sz="1300" dirty="0"/>
          </a:p>
          <a:p>
            <a:pPr indent="0" marL="0">
              <a:buNone/>
            </a:pPr>
            <a:r>
              <a:rPr lang="en-US" sz="1300" dirty="0">
                <a:solidFill>
                  <a:srgbClr val="CADCFC"/>
                </a:solidFill>
                <a:latin typeface="Calibri" pitchFamily="34" charset="0"/>
                <a:ea typeface="Calibri" pitchFamily="34" charset="-122"/>
                <a:cs typeface="Calibri" pitchFamily="34" charset="-120"/>
              </a:rPr>
              <a:t>Erick Bourgeois — author &amp; maintainer, finos/5-spot</a:t>
            </a:r>
            <a:endParaRPr lang="en-US" sz="1300" dirty="0"/>
          </a:p>
        </p:txBody>
      </p:sp>
      <p:sp>
        <p:nvSpPr>
          <p:cNvPr id="6" name="Text 3"/>
          <p:cNvSpPr/>
          <p:nvPr/>
        </p:nvSpPr>
        <p:spPr>
          <a:xfrm>
            <a:off x="566928" y="4434840"/>
            <a:ext cx="2743200" cy="365760"/>
          </a:xfrm>
          <a:prstGeom prst="rect">
            <a:avLst/>
          </a:prstGeom>
          <a:noFill/>
          <a:ln/>
        </p:spPr>
        <p:txBody>
          <a:bodyPr wrap="square" lIns="0" tIns="0" rIns="0" bIns="0" rtlCol="0" anchor="ctr"/>
          <a:lstStyle/>
          <a:p>
            <a:pPr indent="0" marL="0">
              <a:buNone/>
            </a:pPr>
            <a:r>
              <a:rPr lang="en-US" sz="1200" b="1" dirty="0">
                <a:solidFill>
                  <a:srgbClr val="2EC4B6"/>
                </a:solidFill>
                <a:latin typeface="Calibri" pitchFamily="34" charset="0"/>
                <a:ea typeface="Calibri" pitchFamily="34" charset="-122"/>
                <a:cs typeface="Calibri" pitchFamily="34" charset="-120"/>
              </a:rPr>
              <a:t>5spot.finos.org</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640080"/>
          </a:xfrm>
          <a:prstGeom prst="rect">
            <a:avLst/>
          </a:prstGeom>
          <a:noFill/>
          <a:ln/>
        </p:spPr>
        <p:txBody>
          <a:bodyPr wrap="square" lIns="0" tIns="0" rIns="0" bIns="0" rtlCol="0" anchor="ctr"/>
          <a:lstStyle/>
          <a:p>
            <a:pPr indent="0" marL="0">
              <a:buNone/>
            </a:pPr>
            <a:r>
              <a:rPr lang="en-US" sz="3000" b="1" dirty="0">
                <a:solidFill>
                  <a:srgbClr val="1A1F36"/>
                </a:solidFill>
                <a:latin typeface="Cambria" pitchFamily="34" charset="0"/>
                <a:ea typeface="Cambria" pitchFamily="34" charset="-122"/>
                <a:cs typeface="Cambria" pitchFamily="34" charset="-120"/>
              </a:rPr>
              <a:t>Your fleet is asleep on the clock</a:t>
            </a:r>
            <a:endParaRPr lang="en-US" sz="3000" dirty="0"/>
          </a:p>
        </p:txBody>
      </p:sp>
      <p:sp>
        <p:nvSpPr>
          <p:cNvPr id="3" name="Shape 1"/>
          <p:cNvSpPr/>
          <p:nvPr/>
        </p:nvSpPr>
        <p:spPr>
          <a:xfrm>
            <a:off x="457200" y="1143000"/>
            <a:ext cx="3383280" cy="3383280"/>
          </a:xfrm>
          <a:prstGeom prst="roundRect">
            <a:avLst>
              <a:gd name="adj" fmla="val 2703"/>
            </a:avLst>
          </a:prstGeom>
          <a:solidFill>
            <a:srgbClr val="1E2761"/>
          </a:solidFill>
          <a:ln/>
          <a:effectLst>
            <a:outerShdw sx="100000" sy="100000" kx="0" ky="0" algn="bl" rotWithShape="0" blurRad="76200" dist="25400" dir="2700000">
              <a:srgbClr val="000000">
                <a:alpha val="14000"/>
              </a:srgbClr>
            </a:outerShdw>
          </a:effectLst>
        </p:spPr>
      </p:sp>
      <p:pic>
        <p:nvPicPr>
          <p:cNvPr id="4" name="Image 0" descr="preencoded.png">    </p:cNvPr>
          <p:cNvPicPr>
            <a:picLocks noChangeAspect="1"/>
          </p:cNvPicPr>
          <p:nvPr/>
        </p:nvPicPr>
        <p:blipFill>
          <a:blip r:embed="rId1"/>
          <a:stretch>
            <a:fillRect/>
          </a:stretch>
        </p:blipFill>
        <p:spPr>
          <a:xfrm>
            <a:off x="777240" y="1463040"/>
            <a:ext cx="502920" cy="502920"/>
          </a:xfrm>
          <a:prstGeom prst="rect">
            <a:avLst/>
          </a:prstGeom>
        </p:spPr>
      </p:pic>
      <p:sp>
        <p:nvSpPr>
          <p:cNvPr id="5" name="Text 2"/>
          <p:cNvSpPr/>
          <p:nvPr/>
        </p:nvSpPr>
        <p:spPr>
          <a:xfrm>
            <a:off x="457200" y="1874520"/>
            <a:ext cx="3383280" cy="1188720"/>
          </a:xfrm>
          <a:prstGeom prst="rect">
            <a:avLst/>
          </a:prstGeom>
          <a:noFill/>
          <a:ln/>
        </p:spPr>
        <p:txBody>
          <a:bodyPr wrap="square" lIns="0" tIns="0" rIns="0" bIns="0" rtlCol="0" anchor="ctr"/>
          <a:lstStyle/>
          <a:p>
            <a:pPr algn="ctr" indent="0" marL="0">
              <a:buNone/>
            </a:pPr>
            <a:r>
              <a:rPr lang="en-US" sz="6600" b="1" dirty="0">
                <a:solidFill>
                  <a:srgbClr val="FFFFFF"/>
                </a:solidFill>
                <a:latin typeface="Cambria" pitchFamily="34" charset="0"/>
                <a:ea typeface="Cambria" pitchFamily="34" charset="-122"/>
                <a:cs typeface="Cambria" pitchFamily="34" charset="-120"/>
              </a:rPr>
              <a:t>&lt;30%</a:t>
            </a:r>
            <a:endParaRPr lang="en-US" sz="6600" dirty="0"/>
          </a:p>
        </p:txBody>
      </p:sp>
      <p:sp>
        <p:nvSpPr>
          <p:cNvPr id="6" name="Text 3"/>
          <p:cNvSpPr/>
          <p:nvPr/>
        </p:nvSpPr>
        <p:spPr>
          <a:xfrm>
            <a:off x="777240" y="3154680"/>
            <a:ext cx="2743200" cy="1005840"/>
          </a:xfrm>
          <a:prstGeom prst="rect">
            <a:avLst/>
          </a:prstGeom>
          <a:noFill/>
          <a:ln/>
        </p:spPr>
        <p:txBody>
          <a:bodyPr wrap="square" lIns="0" tIns="0" rIns="0" bIns="0" rtlCol="0" anchor="ctr"/>
          <a:lstStyle/>
          <a:p>
            <a:pPr algn="ctr" indent="0" marL="0">
              <a:buNone/>
            </a:pPr>
            <a:r>
              <a:rPr lang="en-US" sz="1400" dirty="0">
                <a:solidFill>
                  <a:srgbClr val="CADCFC"/>
                </a:solidFill>
                <a:latin typeface="Calibri" pitchFamily="34" charset="0"/>
                <a:ea typeface="Calibri" pitchFamily="34" charset="-122"/>
                <a:cs typeface="Calibri" pitchFamily="34" charset="-120"/>
              </a:rPr>
              <a:t>typical utilisation of dev/CI worker fleets that run 24/7</a:t>
            </a:r>
            <a:endParaRPr lang="en-US" sz="1400" dirty="0"/>
          </a:p>
        </p:txBody>
      </p:sp>
      <p:sp>
        <p:nvSpPr>
          <p:cNvPr id="7" name="Shape 4"/>
          <p:cNvSpPr/>
          <p:nvPr/>
        </p:nvSpPr>
        <p:spPr>
          <a:xfrm>
            <a:off x="4206240" y="1234440"/>
            <a:ext cx="4480560" cy="914400"/>
          </a:xfrm>
          <a:prstGeom prst="roundRect">
            <a:avLst>
              <a:gd name="adj" fmla="val 8000"/>
            </a:avLst>
          </a:prstGeom>
          <a:solidFill>
            <a:srgbClr val="EFF4FE"/>
          </a:solidFill>
          <a:ln/>
        </p:spPr>
      </p:sp>
      <p:sp>
        <p:nvSpPr>
          <p:cNvPr id="8" name="Text 5"/>
          <p:cNvSpPr/>
          <p:nvPr/>
        </p:nvSpPr>
        <p:spPr>
          <a:xfrm>
            <a:off x="4434840" y="1234440"/>
            <a:ext cx="4114800" cy="91440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You pay for  —  </a:t>
            </a:r>
            <a:pPr indent="0" marL="0">
              <a:buNone/>
            </a:pPr>
            <a:r>
              <a:rPr lang="en-US" sz="1500" dirty="0">
                <a:solidFill>
                  <a:srgbClr val="1A1F36"/>
                </a:solidFill>
                <a:latin typeface="Calibri" pitchFamily="34" charset="0"/>
                <a:ea typeface="Calibri" pitchFamily="34" charset="-122"/>
                <a:cs typeface="Calibri" pitchFamily="34" charset="-120"/>
              </a:rPr>
              <a:t>every hour the machine exists</a:t>
            </a:r>
            <a:endParaRPr lang="en-US" sz="1500" dirty="0"/>
          </a:p>
        </p:txBody>
      </p:sp>
      <p:sp>
        <p:nvSpPr>
          <p:cNvPr id="9" name="Shape 6"/>
          <p:cNvSpPr/>
          <p:nvPr/>
        </p:nvSpPr>
        <p:spPr>
          <a:xfrm>
            <a:off x="4206240" y="2313432"/>
            <a:ext cx="4480560" cy="914400"/>
          </a:xfrm>
          <a:prstGeom prst="roundRect">
            <a:avLst>
              <a:gd name="adj" fmla="val 8000"/>
            </a:avLst>
          </a:prstGeom>
          <a:solidFill>
            <a:srgbClr val="EFF4FE"/>
          </a:solidFill>
          <a:ln/>
        </p:spPr>
      </p:sp>
      <p:sp>
        <p:nvSpPr>
          <p:cNvPr id="10" name="Text 7"/>
          <p:cNvSpPr/>
          <p:nvPr/>
        </p:nvSpPr>
        <p:spPr>
          <a:xfrm>
            <a:off x="4434840" y="2313432"/>
            <a:ext cx="4114800" cy="91440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You need it  —  </a:t>
            </a:r>
            <a:pPr indent="0" marL="0">
              <a:buNone/>
            </a:pPr>
            <a:r>
              <a:rPr lang="en-US" sz="1500" dirty="0">
                <a:solidFill>
                  <a:srgbClr val="1A1F36"/>
                </a:solidFill>
                <a:latin typeface="Calibri" pitchFamily="34" charset="0"/>
                <a:ea typeface="Calibri" pitchFamily="34" charset="-122"/>
                <a:cs typeface="Calibri" pitchFamily="34" charset="-120"/>
              </a:rPr>
              <a:t>business hours, batch windows, test runs</a:t>
            </a:r>
            <a:endParaRPr lang="en-US" sz="1500" dirty="0"/>
          </a:p>
        </p:txBody>
      </p:sp>
      <p:sp>
        <p:nvSpPr>
          <p:cNvPr id="11" name="Shape 8"/>
          <p:cNvSpPr/>
          <p:nvPr/>
        </p:nvSpPr>
        <p:spPr>
          <a:xfrm>
            <a:off x="4206240" y="3392424"/>
            <a:ext cx="4480560" cy="914400"/>
          </a:xfrm>
          <a:prstGeom prst="roundRect">
            <a:avLst>
              <a:gd name="adj" fmla="val 8000"/>
            </a:avLst>
          </a:prstGeom>
          <a:solidFill>
            <a:srgbClr val="EFF4FE"/>
          </a:solidFill>
          <a:ln/>
        </p:spPr>
      </p:sp>
      <p:sp>
        <p:nvSpPr>
          <p:cNvPr id="12" name="Text 9"/>
          <p:cNvSpPr/>
          <p:nvPr/>
        </p:nvSpPr>
        <p:spPr>
          <a:xfrm>
            <a:off x="4434840" y="3392424"/>
            <a:ext cx="4114800" cy="914400"/>
          </a:xfrm>
          <a:prstGeom prst="rect">
            <a:avLst/>
          </a:prstGeom>
          <a:noFill/>
          <a:ln/>
        </p:spPr>
        <p:txBody>
          <a:bodyPr wrap="square" lIns="0" tIns="0" rIns="0" bIns="0" rtlCol="0" anchor="ctr"/>
          <a:lstStyle/>
          <a:p>
            <a:pPr indent="0" marL="0">
              <a:buNone/>
            </a:pPr>
            <a:r>
              <a:rPr lang="en-US" sz="1500" b="1" dirty="0">
                <a:solidFill>
                  <a:srgbClr val="1E2761"/>
                </a:solidFill>
                <a:latin typeface="Calibri" pitchFamily="34" charset="0"/>
                <a:ea typeface="Calibri" pitchFamily="34" charset="-122"/>
                <a:cs typeface="Calibri" pitchFamily="34" charset="-120"/>
              </a:rPr>
              <a:t>The gap  —  </a:t>
            </a:r>
            <a:pPr indent="0" marL="0">
              <a:buNone/>
            </a:pPr>
            <a:r>
              <a:rPr lang="en-US" sz="1500" dirty="0">
                <a:solidFill>
                  <a:srgbClr val="1A1F36"/>
                </a:solidFill>
                <a:latin typeface="Calibri" pitchFamily="34" charset="0"/>
                <a:ea typeface="Calibri" pitchFamily="34" charset="-122"/>
                <a:cs typeface="Calibri" pitchFamily="34" charset="-120"/>
              </a:rPr>
              <a:t>is idle spend — plus audit pain when you reclaim by hand</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640080"/>
          </a:xfrm>
          <a:prstGeom prst="rect">
            <a:avLst/>
          </a:prstGeom>
          <a:noFill/>
          <a:ln/>
        </p:spPr>
        <p:txBody>
          <a:bodyPr wrap="square" lIns="0" tIns="0" rIns="0" bIns="0" rtlCol="0" anchor="ctr"/>
          <a:lstStyle/>
          <a:p>
            <a:pPr indent="0" marL="0">
              <a:buNone/>
            </a:pPr>
            <a:r>
              <a:rPr lang="en-US" sz="3000" b="1" dirty="0">
                <a:solidFill>
                  <a:srgbClr val="1A1F36"/>
                </a:solidFill>
                <a:latin typeface="Cambria" pitchFamily="34" charset="0"/>
                <a:ea typeface="Cambria" pitchFamily="34" charset="-122"/>
                <a:cs typeface="Cambria" pitchFamily="34" charset="-120"/>
              </a:rPr>
              <a:t>5-Spot: spot capacity, on a schedule</a:t>
            </a:r>
            <a:endParaRPr lang="en-US" sz="3000" dirty="0"/>
          </a:p>
        </p:txBody>
      </p:sp>
      <p:sp>
        <p:nvSpPr>
          <p:cNvPr id="3" name="Text 1"/>
          <p:cNvSpPr/>
          <p:nvPr/>
        </p:nvSpPr>
        <p:spPr>
          <a:xfrm>
            <a:off x="457200" y="868680"/>
            <a:ext cx="8229600" cy="365760"/>
          </a:xfrm>
          <a:prstGeom prst="rect">
            <a:avLst/>
          </a:prstGeom>
          <a:noFill/>
          <a:ln/>
        </p:spPr>
        <p:txBody>
          <a:bodyPr wrap="square" lIns="0" tIns="0" rIns="0" bIns="0" rtlCol="0" anchor="ctr"/>
          <a:lstStyle/>
          <a:p>
            <a:pPr indent="0" marL="0">
              <a:buNone/>
            </a:pPr>
            <a:r>
              <a:rPr lang="en-US" sz="1400" dirty="0">
                <a:solidFill>
                  <a:srgbClr val="5B6478"/>
                </a:solidFill>
                <a:latin typeface="Calibri" pitchFamily="34" charset="0"/>
                <a:ea typeface="Calibri" pitchFamily="34" charset="-122"/>
                <a:cs typeface="Calibri" pitchFamily="34" charset="-120"/>
              </a:rPr>
              <a:t>One CRD in, three CAPI objects out — the controller owns the machine lifecycle.</a:t>
            </a:r>
            <a:endParaRPr lang="en-US" sz="1400" dirty="0"/>
          </a:p>
        </p:txBody>
      </p:sp>
      <p:sp>
        <p:nvSpPr>
          <p:cNvPr id="4" name="Shape 2"/>
          <p:cNvSpPr/>
          <p:nvPr/>
        </p:nvSpPr>
        <p:spPr>
          <a:xfrm>
            <a:off x="457200" y="1828800"/>
            <a:ext cx="1828800" cy="1371600"/>
          </a:xfrm>
          <a:prstGeom prst="roundRect">
            <a:avLst>
              <a:gd name="adj" fmla="val 5333"/>
            </a:avLst>
          </a:prstGeom>
          <a:solidFill>
            <a:srgbClr val="1E2761"/>
          </a:solidFill>
          <a:ln/>
          <a:effectLst>
            <a:outerShdw sx="100000" sy="100000" kx="0" ky="0" algn="bl" rotWithShape="0" blurRad="76200" dist="25400" dir="2700000">
              <a:srgbClr val="000000">
                <a:alpha val="14000"/>
              </a:srgbClr>
            </a:outerShdw>
          </a:effectLst>
        </p:spPr>
      </p:sp>
      <p:sp>
        <p:nvSpPr>
          <p:cNvPr id="5" name="Text 3"/>
          <p:cNvSpPr/>
          <p:nvPr/>
        </p:nvSpPr>
        <p:spPr>
          <a:xfrm>
            <a:off x="457200" y="1828800"/>
            <a:ext cx="1828800" cy="13716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ScheduledMachine</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(your YAML)</a:t>
            </a:r>
            <a:endParaRPr lang="en-US" sz="1300" dirty="0"/>
          </a:p>
        </p:txBody>
      </p:sp>
      <p:sp>
        <p:nvSpPr>
          <p:cNvPr id="6" name="Shape 4"/>
          <p:cNvSpPr/>
          <p:nvPr/>
        </p:nvSpPr>
        <p:spPr>
          <a:xfrm>
            <a:off x="2286000" y="2514600"/>
            <a:ext cx="502920" cy="0"/>
          </a:xfrm>
          <a:prstGeom prst="line">
            <a:avLst/>
          </a:prstGeom>
          <a:noFill/>
          <a:ln w="31750">
            <a:solidFill>
              <a:srgbClr val="5B6478"/>
            </a:solidFill>
            <a:prstDash val="solid"/>
            <a:tailEnd type="triangle"/>
          </a:ln>
        </p:spPr>
      </p:sp>
      <p:sp>
        <p:nvSpPr>
          <p:cNvPr id="7" name="Shape 5"/>
          <p:cNvSpPr/>
          <p:nvPr/>
        </p:nvSpPr>
        <p:spPr>
          <a:xfrm>
            <a:off x="2788920" y="1828800"/>
            <a:ext cx="1600200" cy="1371600"/>
          </a:xfrm>
          <a:prstGeom prst="roundRect">
            <a:avLst>
              <a:gd name="adj" fmla="val 5333"/>
            </a:avLst>
          </a:prstGeom>
          <a:solidFill>
            <a:srgbClr val="2EC4B6"/>
          </a:solidFill>
          <a:ln/>
          <a:effectLst>
            <a:outerShdw sx="100000" sy="100000" kx="0" ky="0" algn="bl" rotWithShape="0" blurRad="76200" dist="25400" dir="2700000">
              <a:srgbClr val="000000">
                <a:alpha val="14000"/>
              </a:srgbClr>
            </a:outerShdw>
          </a:effectLst>
        </p:spPr>
      </p:sp>
      <p:sp>
        <p:nvSpPr>
          <p:cNvPr id="8" name="Text 6"/>
          <p:cNvSpPr/>
          <p:nvPr/>
        </p:nvSpPr>
        <p:spPr>
          <a:xfrm>
            <a:off x="2788920" y="1828800"/>
            <a:ext cx="1600200" cy="1371600"/>
          </a:xfrm>
          <a:prstGeom prst="rect">
            <a:avLst/>
          </a:prstGeom>
          <a:noFill/>
          <a:ln/>
        </p:spPr>
        <p:txBody>
          <a:bodyPr wrap="square" lIns="0" tIns="0" rIns="0" bIns="0"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5-Spot</a:t>
            </a:r>
            <a:endParaRPr lang="en-US" sz="1300" dirty="0"/>
          </a:p>
          <a:p>
            <a:pPr algn="ctr" indent="0" marL="0">
              <a:buNone/>
            </a:pPr>
            <a:r>
              <a:rPr lang="en-US" sz="1300" b="1" dirty="0">
                <a:solidFill>
                  <a:srgbClr val="1E2761"/>
                </a:solidFill>
                <a:latin typeface="Calibri" pitchFamily="34" charset="0"/>
                <a:ea typeface="Calibri" pitchFamily="34" charset="-122"/>
                <a:cs typeface="Calibri" pitchFamily="34" charset="-120"/>
              </a:rPr>
              <a:t>controller</a:t>
            </a:r>
            <a:endParaRPr lang="en-US" sz="1300" dirty="0"/>
          </a:p>
        </p:txBody>
      </p:sp>
      <p:sp>
        <p:nvSpPr>
          <p:cNvPr id="9" name="Shape 7"/>
          <p:cNvSpPr/>
          <p:nvPr/>
        </p:nvSpPr>
        <p:spPr>
          <a:xfrm>
            <a:off x="4389120" y="2514600"/>
            <a:ext cx="502920" cy="0"/>
          </a:xfrm>
          <a:prstGeom prst="line">
            <a:avLst/>
          </a:prstGeom>
          <a:noFill/>
          <a:ln w="31750">
            <a:solidFill>
              <a:srgbClr val="5B6478"/>
            </a:solidFill>
            <a:prstDash val="solid"/>
            <a:tailEnd type="triangle"/>
          </a:ln>
        </p:spPr>
      </p:sp>
      <p:sp>
        <p:nvSpPr>
          <p:cNvPr id="10" name="Shape 8"/>
          <p:cNvSpPr/>
          <p:nvPr/>
        </p:nvSpPr>
        <p:spPr>
          <a:xfrm>
            <a:off x="4892040" y="1325880"/>
            <a:ext cx="2103120" cy="566928"/>
          </a:xfrm>
          <a:prstGeom prst="roundRect">
            <a:avLst>
              <a:gd name="adj" fmla="val 12903"/>
            </a:avLst>
          </a:prstGeom>
          <a:solidFill>
            <a:srgbClr val="EFF4FE"/>
          </a:solidFill>
          <a:ln/>
          <a:effectLst>
            <a:outerShdw sx="100000" sy="100000" kx="0" ky="0" algn="bl" rotWithShape="0" blurRad="76200" dist="25400" dir="2700000">
              <a:srgbClr val="000000">
                <a:alpha val="14000"/>
              </a:srgbClr>
            </a:outerShdw>
          </a:effectLst>
        </p:spPr>
      </p:sp>
      <p:sp>
        <p:nvSpPr>
          <p:cNvPr id="11" name="Text 9"/>
          <p:cNvSpPr/>
          <p:nvPr/>
        </p:nvSpPr>
        <p:spPr>
          <a:xfrm>
            <a:off x="4892040" y="1325880"/>
            <a:ext cx="2103120" cy="566928"/>
          </a:xfrm>
          <a:prstGeom prst="rect">
            <a:avLst/>
          </a:prstGeom>
          <a:noFill/>
          <a:ln/>
        </p:spPr>
        <p:txBody>
          <a:bodyPr wrap="square" lIns="0" tIns="0" rIns="0" bIns="0" rtlCol="0" anchor="ctr"/>
          <a:lstStyle/>
          <a:p>
            <a:pPr algn="ctr" indent="0" marL="0">
              <a:buNone/>
            </a:pPr>
            <a:r>
              <a:rPr lang="en-US" sz="1100" b="1" dirty="0">
                <a:solidFill>
                  <a:srgbClr val="1E2761"/>
                </a:solidFill>
                <a:latin typeface="Calibri" pitchFamily="34" charset="0"/>
                <a:ea typeface="Calibri" pitchFamily="34" charset="-122"/>
                <a:cs typeface="Calibri" pitchFamily="34" charset="-120"/>
              </a:rPr>
              <a:t>Bootstrap (K0sWorkerConfig)</a:t>
            </a:r>
            <a:endParaRPr lang="en-US" sz="1100" dirty="0"/>
          </a:p>
        </p:txBody>
      </p:sp>
      <p:sp>
        <p:nvSpPr>
          <p:cNvPr id="12" name="Shape 10"/>
          <p:cNvSpPr/>
          <p:nvPr/>
        </p:nvSpPr>
        <p:spPr>
          <a:xfrm>
            <a:off x="4892040" y="2029968"/>
            <a:ext cx="2103120" cy="566928"/>
          </a:xfrm>
          <a:prstGeom prst="roundRect">
            <a:avLst>
              <a:gd name="adj" fmla="val 12903"/>
            </a:avLst>
          </a:prstGeom>
          <a:solidFill>
            <a:srgbClr val="EFF4FE"/>
          </a:solidFill>
          <a:ln/>
          <a:effectLst>
            <a:outerShdw sx="100000" sy="100000" kx="0" ky="0" algn="bl" rotWithShape="0" blurRad="76200" dist="25400" dir="2700000">
              <a:srgbClr val="000000">
                <a:alpha val="14000"/>
              </a:srgbClr>
            </a:outerShdw>
          </a:effectLst>
        </p:spPr>
      </p:sp>
      <p:sp>
        <p:nvSpPr>
          <p:cNvPr id="13" name="Text 11"/>
          <p:cNvSpPr/>
          <p:nvPr/>
        </p:nvSpPr>
        <p:spPr>
          <a:xfrm>
            <a:off x="4892040" y="2029968"/>
            <a:ext cx="2103120" cy="566928"/>
          </a:xfrm>
          <a:prstGeom prst="rect">
            <a:avLst/>
          </a:prstGeom>
          <a:noFill/>
          <a:ln/>
        </p:spPr>
        <p:txBody>
          <a:bodyPr wrap="square" lIns="0" tIns="0" rIns="0" bIns="0" rtlCol="0" anchor="ctr"/>
          <a:lstStyle/>
          <a:p>
            <a:pPr algn="ctr" indent="0" marL="0">
              <a:buNone/>
            </a:pPr>
            <a:r>
              <a:rPr lang="en-US" sz="1100" b="1" dirty="0">
                <a:solidFill>
                  <a:srgbClr val="1E2761"/>
                </a:solidFill>
                <a:latin typeface="Calibri" pitchFamily="34" charset="0"/>
                <a:ea typeface="Calibri" pitchFamily="34" charset="-122"/>
                <a:cs typeface="Calibri" pitchFamily="34" charset="-120"/>
              </a:rPr>
              <a:t>Infra (RemoteMachine)</a:t>
            </a:r>
            <a:endParaRPr lang="en-US" sz="1100" dirty="0"/>
          </a:p>
        </p:txBody>
      </p:sp>
      <p:sp>
        <p:nvSpPr>
          <p:cNvPr id="14" name="Shape 12"/>
          <p:cNvSpPr/>
          <p:nvPr/>
        </p:nvSpPr>
        <p:spPr>
          <a:xfrm>
            <a:off x="4892040" y="2734056"/>
            <a:ext cx="2103120" cy="566928"/>
          </a:xfrm>
          <a:prstGeom prst="roundRect">
            <a:avLst>
              <a:gd name="adj" fmla="val 12903"/>
            </a:avLst>
          </a:prstGeom>
          <a:solidFill>
            <a:srgbClr val="EFF4FE"/>
          </a:solidFill>
          <a:ln/>
          <a:effectLst>
            <a:outerShdw sx="100000" sy="100000" kx="0" ky="0" algn="bl" rotWithShape="0" blurRad="76200" dist="25400" dir="2700000">
              <a:srgbClr val="000000">
                <a:alpha val="14000"/>
              </a:srgbClr>
            </a:outerShdw>
          </a:effectLst>
        </p:spPr>
      </p:sp>
      <p:sp>
        <p:nvSpPr>
          <p:cNvPr id="15" name="Text 13"/>
          <p:cNvSpPr/>
          <p:nvPr/>
        </p:nvSpPr>
        <p:spPr>
          <a:xfrm>
            <a:off x="4892040" y="2734056"/>
            <a:ext cx="2103120" cy="566928"/>
          </a:xfrm>
          <a:prstGeom prst="rect">
            <a:avLst/>
          </a:prstGeom>
          <a:noFill/>
          <a:ln/>
        </p:spPr>
        <p:txBody>
          <a:bodyPr wrap="square" lIns="0" tIns="0" rIns="0" bIns="0" rtlCol="0" anchor="ctr"/>
          <a:lstStyle/>
          <a:p>
            <a:pPr algn="ctr" indent="0" marL="0">
              <a:buNone/>
            </a:pPr>
            <a:r>
              <a:rPr lang="en-US" sz="1100" b="1" dirty="0">
                <a:solidFill>
                  <a:srgbClr val="1E2761"/>
                </a:solidFill>
                <a:latin typeface="Calibri" pitchFamily="34" charset="0"/>
                <a:ea typeface="Calibri" pitchFamily="34" charset="-122"/>
                <a:cs typeface="Calibri" pitchFamily="34" charset="-120"/>
              </a:rPr>
              <a:t>CAPI Machine</a:t>
            </a:r>
            <a:endParaRPr lang="en-US" sz="1100" dirty="0"/>
          </a:p>
        </p:txBody>
      </p:sp>
      <p:sp>
        <p:nvSpPr>
          <p:cNvPr id="16" name="Shape 14"/>
          <p:cNvSpPr/>
          <p:nvPr/>
        </p:nvSpPr>
        <p:spPr>
          <a:xfrm>
            <a:off x="6995160" y="2514600"/>
            <a:ext cx="502920" cy="0"/>
          </a:xfrm>
          <a:prstGeom prst="line">
            <a:avLst/>
          </a:prstGeom>
          <a:noFill/>
          <a:ln w="31750">
            <a:solidFill>
              <a:srgbClr val="5B6478"/>
            </a:solidFill>
            <a:prstDash val="solid"/>
            <a:tailEnd type="triangle"/>
          </a:ln>
        </p:spPr>
      </p:sp>
      <p:sp>
        <p:nvSpPr>
          <p:cNvPr id="17" name="Shape 15"/>
          <p:cNvSpPr/>
          <p:nvPr/>
        </p:nvSpPr>
        <p:spPr>
          <a:xfrm>
            <a:off x="7498080" y="1828800"/>
            <a:ext cx="1188720" cy="1371600"/>
          </a:xfrm>
          <a:prstGeom prst="roundRect">
            <a:avLst>
              <a:gd name="adj" fmla="val 6154"/>
            </a:avLst>
          </a:prstGeom>
          <a:solidFill>
            <a:srgbClr val="1E2761"/>
          </a:solidFill>
          <a:ln/>
          <a:effectLst>
            <a:outerShdw sx="100000" sy="100000" kx="0" ky="0" algn="bl" rotWithShape="0" blurRad="76200" dist="25400" dir="2700000">
              <a:srgbClr val="000000">
                <a:alpha val="14000"/>
              </a:srgbClr>
            </a:outerShdw>
          </a:effectLst>
        </p:spPr>
      </p:sp>
      <p:sp>
        <p:nvSpPr>
          <p:cNvPr id="18" name="Text 16"/>
          <p:cNvSpPr/>
          <p:nvPr/>
        </p:nvSpPr>
        <p:spPr>
          <a:xfrm>
            <a:off x="7498080" y="1828800"/>
            <a:ext cx="1188720" cy="13716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Node</a:t>
            </a:r>
            <a:endParaRPr lang="en-US" sz="1300" dirty="0"/>
          </a:p>
          <a:p>
            <a:pPr algn="ctr" indent="0" marL="0">
              <a:buNone/>
            </a:pPr>
            <a:r>
              <a:rPr lang="en-US" sz="1300" b="1" dirty="0">
                <a:solidFill>
                  <a:srgbClr val="FFFFFF"/>
                </a:solidFill>
                <a:latin typeface="Calibri" pitchFamily="34" charset="0"/>
                <a:ea typeface="Calibri" pitchFamily="34" charset="-122"/>
                <a:cs typeface="Calibri" pitchFamily="34" charset="-120"/>
              </a:rPr>
              <a:t>joins</a:t>
            </a:r>
            <a:endParaRPr lang="en-US" sz="1300" dirty="0"/>
          </a:p>
        </p:txBody>
      </p:sp>
      <p:sp>
        <p:nvSpPr>
          <p:cNvPr id="19" name="Shape 17"/>
          <p:cNvSpPr/>
          <p:nvPr/>
        </p:nvSpPr>
        <p:spPr>
          <a:xfrm>
            <a:off x="457200" y="4069080"/>
            <a:ext cx="1591056" cy="502920"/>
          </a:xfrm>
          <a:prstGeom prst="roundRect">
            <a:avLst>
              <a:gd name="adj" fmla="val 49091"/>
            </a:avLst>
          </a:prstGeom>
          <a:solidFill>
            <a:srgbClr val="EFF4FE"/>
          </a:solidFill>
          <a:ln/>
        </p:spPr>
      </p:sp>
      <p:sp>
        <p:nvSpPr>
          <p:cNvPr id="20" name="Text 18"/>
          <p:cNvSpPr/>
          <p:nvPr/>
        </p:nvSpPr>
        <p:spPr>
          <a:xfrm>
            <a:off x="457200" y="4069080"/>
            <a:ext cx="1591056" cy="502920"/>
          </a:xfrm>
          <a:prstGeom prst="rect">
            <a:avLst/>
          </a:prstGeom>
          <a:noFill/>
          <a:ln/>
        </p:spPr>
        <p:txBody>
          <a:bodyPr wrap="square" lIns="0" tIns="0" rIns="0" bIns="0" rtlCol="0" anchor="ctr"/>
          <a:lstStyle/>
          <a:p>
            <a:pPr algn="ctr" indent="0" marL="0">
              <a:buNone/>
            </a:pPr>
            <a:r>
              <a:rPr lang="en-US" sz="1050" b="1" dirty="0">
                <a:solidFill>
                  <a:srgbClr val="1E2761"/>
                </a:solidFill>
                <a:latin typeface="Calibri" pitchFamily="34" charset="0"/>
                <a:ea typeface="Calibri" pitchFamily="34" charset="-122"/>
                <a:cs typeface="Calibri" pitchFamily="34" charset="-120"/>
              </a:rPr>
              <a:t>Timezone-aware windows</a:t>
            </a:r>
            <a:endParaRPr lang="en-US" sz="1050" dirty="0"/>
          </a:p>
        </p:txBody>
      </p:sp>
      <p:sp>
        <p:nvSpPr>
          <p:cNvPr id="21" name="Shape 19"/>
          <p:cNvSpPr/>
          <p:nvPr/>
        </p:nvSpPr>
        <p:spPr>
          <a:xfrm>
            <a:off x="2157984" y="4069080"/>
            <a:ext cx="1591056" cy="502920"/>
          </a:xfrm>
          <a:prstGeom prst="roundRect">
            <a:avLst>
              <a:gd name="adj" fmla="val 49091"/>
            </a:avLst>
          </a:prstGeom>
          <a:solidFill>
            <a:srgbClr val="EFF4FE"/>
          </a:solidFill>
          <a:ln/>
        </p:spPr>
      </p:sp>
      <p:sp>
        <p:nvSpPr>
          <p:cNvPr id="22" name="Text 20"/>
          <p:cNvSpPr/>
          <p:nvPr/>
        </p:nvSpPr>
        <p:spPr>
          <a:xfrm>
            <a:off x="2157984" y="4069080"/>
            <a:ext cx="1591056" cy="502920"/>
          </a:xfrm>
          <a:prstGeom prst="rect">
            <a:avLst/>
          </a:prstGeom>
          <a:noFill/>
          <a:ln/>
        </p:spPr>
        <p:txBody>
          <a:bodyPr wrap="square" lIns="0" tIns="0" rIns="0" bIns="0" rtlCol="0" anchor="ctr"/>
          <a:lstStyle/>
          <a:p>
            <a:pPr algn="ctr" indent="0" marL="0">
              <a:buNone/>
            </a:pPr>
            <a:r>
              <a:rPr lang="en-US" sz="1050" b="1" dirty="0">
                <a:solidFill>
                  <a:srgbClr val="1E2761"/>
                </a:solidFill>
                <a:latin typeface="Calibri" pitchFamily="34" charset="0"/>
                <a:ea typeface="Calibri" pitchFamily="34" charset="-122"/>
                <a:cs typeface="Calibri" pitchFamily="34" charset="-120"/>
              </a:rPr>
              <a:t>Graceful drain</a:t>
            </a:r>
            <a:endParaRPr lang="en-US" sz="1050" dirty="0"/>
          </a:p>
        </p:txBody>
      </p:sp>
      <p:sp>
        <p:nvSpPr>
          <p:cNvPr id="23" name="Shape 21"/>
          <p:cNvSpPr/>
          <p:nvPr/>
        </p:nvSpPr>
        <p:spPr>
          <a:xfrm>
            <a:off x="3858768" y="4069080"/>
            <a:ext cx="1591056" cy="502920"/>
          </a:xfrm>
          <a:prstGeom prst="roundRect">
            <a:avLst>
              <a:gd name="adj" fmla="val 49091"/>
            </a:avLst>
          </a:prstGeom>
          <a:solidFill>
            <a:srgbClr val="EFF4FE"/>
          </a:solidFill>
          <a:ln/>
        </p:spPr>
      </p:sp>
      <p:sp>
        <p:nvSpPr>
          <p:cNvPr id="24" name="Text 22"/>
          <p:cNvSpPr/>
          <p:nvPr/>
        </p:nvSpPr>
        <p:spPr>
          <a:xfrm>
            <a:off x="3858768" y="4069080"/>
            <a:ext cx="1591056" cy="502920"/>
          </a:xfrm>
          <a:prstGeom prst="rect">
            <a:avLst/>
          </a:prstGeom>
          <a:noFill/>
          <a:ln/>
        </p:spPr>
        <p:txBody>
          <a:bodyPr wrap="square" lIns="0" tIns="0" rIns="0" bIns="0" rtlCol="0" anchor="ctr"/>
          <a:lstStyle/>
          <a:p>
            <a:pPr algn="ctr" indent="0" marL="0">
              <a:buNone/>
            </a:pPr>
            <a:r>
              <a:rPr lang="en-US" sz="1050" b="1" dirty="0">
                <a:solidFill>
                  <a:srgbClr val="1E2761"/>
                </a:solidFill>
                <a:latin typeface="Calibri" pitchFamily="34" charset="0"/>
                <a:ea typeface="Calibri" pitchFamily="34" charset="-122"/>
                <a:cs typeface="Calibri" pitchFamily="34" charset="-120"/>
              </a:rPr>
              <a:t>Kill switch</a:t>
            </a:r>
            <a:endParaRPr lang="en-US" sz="1050" dirty="0"/>
          </a:p>
        </p:txBody>
      </p:sp>
      <p:sp>
        <p:nvSpPr>
          <p:cNvPr id="25" name="Shape 23"/>
          <p:cNvSpPr/>
          <p:nvPr/>
        </p:nvSpPr>
        <p:spPr>
          <a:xfrm>
            <a:off x="5559552" y="4069080"/>
            <a:ext cx="1591056" cy="502920"/>
          </a:xfrm>
          <a:prstGeom prst="roundRect">
            <a:avLst>
              <a:gd name="adj" fmla="val 49091"/>
            </a:avLst>
          </a:prstGeom>
          <a:solidFill>
            <a:srgbClr val="EFF4FE"/>
          </a:solidFill>
          <a:ln/>
        </p:spPr>
      </p:sp>
      <p:sp>
        <p:nvSpPr>
          <p:cNvPr id="26" name="Text 24"/>
          <p:cNvSpPr/>
          <p:nvPr/>
        </p:nvSpPr>
        <p:spPr>
          <a:xfrm>
            <a:off x="5559552" y="4069080"/>
            <a:ext cx="1591056" cy="502920"/>
          </a:xfrm>
          <a:prstGeom prst="rect">
            <a:avLst/>
          </a:prstGeom>
          <a:noFill/>
          <a:ln/>
        </p:spPr>
        <p:txBody>
          <a:bodyPr wrap="square" lIns="0" tIns="0" rIns="0" bIns="0" rtlCol="0" anchor="ctr"/>
          <a:lstStyle/>
          <a:p>
            <a:pPr algn="ctr" indent="0" marL="0">
              <a:buNone/>
            </a:pPr>
            <a:r>
              <a:rPr lang="en-US" sz="1050" b="1" dirty="0">
                <a:solidFill>
                  <a:srgbClr val="1E2761"/>
                </a:solidFill>
                <a:latin typeface="Calibri" pitchFamily="34" charset="0"/>
                <a:ea typeface="Calibri" pitchFamily="34" charset="-122"/>
                <a:cs typeface="Calibri" pitchFamily="34" charset="-120"/>
              </a:rPr>
              <a:t>GitOps-friendly</a:t>
            </a:r>
            <a:endParaRPr lang="en-US" sz="1050" dirty="0"/>
          </a:p>
        </p:txBody>
      </p:sp>
      <p:sp>
        <p:nvSpPr>
          <p:cNvPr id="27" name="Shape 25"/>
          <p:cNvSpPr/>
          <p:nvPr/>
        </p:nvSpPr>
        <p:spPr>
          <a:xfrm>
            <a:off x="7260336" y="4069080"/>
            <a:ext cx="1591056" cy="502920"/>
          </a:xfrm>
          <a:prstGeom prst="roundRect">
            <a:avLst>
              <a:gd name="adj" fmla="val 49091"/>
            </a:avLst>
          </a:prstGeom>
          <a:solidFill>
            <a:srgbClr val="EFF4FE"/>
          </a:solidFill>
          <a:ln/>
        </p:spPr>
      </p:sp>
      <p:sp>
        <p:nvSpPr>
          <p:cNvPr id="28" name="Text 26"/>
          <p:cNvSpPr/>
          <p:nvPr/>
        </p:nvSpPr>
        <p:spPr>
          <a:xfrm>
            <a:off x="7260336" y="4069080"/>
            <a:ext cx="1591056" cy="502920"/>
          </a:xfrm>
          <a:prstGeom prst="rect">
            <a:avLst/>
          </a:prstGeom>
          <a:noFill/>
          <a:ln/>
        </p:spPr>
        <p:txBody>
          <a:bodyPr wrap="square" lIns="0" tIns="0" rIns="0" bIns="0" rtlCol="0" anchor="ctr"/>
          <a:lstStyle/>
          <a:p>
            <a:pPr algn="ctr" indent="0" marL="0">
              <a:buNone/>
            </a:pPr>
            <a:r>
              <a:rPr lang="en-US" sz="1050" b="1" dirty="0">
                <a:solidFill>
                  <a:srgbClr val="1E2761"/>
                </a:solidFill>
                <a:latin typeface="Calibri" pitchFamily="34" charset="0"/>
                <a:ea typeface="Calibri" pitchFamily="34" charset="-122"/>
                <a:cs typeface="Calibri" pitchFamily="34" charset="-120"/>
              </a:rPr>
              <a:t>Prometheus metrics</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640080"/>
          </a:xfrm>
          <a:prstGeom prst="rect">
            <a:avLst/>
          </a:prstGeom>
          <a:noFill/>
          <a:ln/>
        </p:spPr>
        <p:txBody>
          <a:bodyPr wrap="square" lIns="0" tIns="0" rIns="0" bIns="0" rtlCol="0" anchor="ctr"/>
          <a:lstStyle/>
          <a:p>
            <a:pPr indent="0" marL="0">
              <a:buNone/>
            </a:pPr>
            <a:r>
              <a:rPr lang="en-US" sz="3000" b="1" dirty="0">
                <a:solidFill>
                  <a:srgbClr val="1A1F36"/>
                </a:solidFill>
                <a:latin typeface="Cambria" pitchFamily="34" charset="0"/>
                <a:ea typeface="Cambria" pitchFamily="34" charset="-122"/>
                <a:cs typeface="Cambria" pitchFamily="34" charset="-120"/>
              </a:rPr>
              <a:t>The lifecycle you'll watch all afternoon</a:t>
            </a:r>
            <a:endParaRPr lang="en-US" sz="3000" dirty="0"/>
          </a:p>
        </p:txBody>
      </p:sp>
      <p:sp>
        <p:nvSpPr>
          <p:cNvPr id="3" name="Shape 1"/>
          <p:cNvSpPr/>
          <p:nvPr/>
        </p:nvSpPr>
        <p:spPr>
          <a:xfrm>
            <a:off x="457200" y="1554480"/>
            <a:ext cx="1920240" cy="1691640"/>
          </a:xfrm>
          <a:prstGeom prst="roundRect">
            <a:avLst>
              <a:gd name="adj" fmla="val 5405"/>
            </a:avLst>
          </a:prstGeom>
          <a:solidFill>
            <a:srgbClr val="EFF4FE"/>
          </a:solidFill>
          <a:ln/>
          <a:effectLst>
            <a:outerShdw sx="100000" sy="100000" kx="0" ky="0" algn="bl" rotWithShape="0" blurRad="76200" dist="25400" dir="2700000">
              <a:srgbClr val="000000">
                <a:alpha val="14000"/>
              </a:srgbClr>
            </a:outerShdw>
          </a:effectLst>
        </p:spPr>
      </p:sp>
      <p:sp>
        <p:nvSpPr>
          <p:cNvPr id="4" name="Text 2"/>
          <p:cNvSpPr/>
          <p:nvPr/>
        </p:nvSpPr>
        <p:spPr>
          <a:xfrm>
            <a:off x="457200" y="1755648"/>
            <a:ext cx="1920240" cy="457200"/>
          </a:xfrm>
          <a:prstGeom prst="rect">
            <a:avLst/>
          </a:prstGeom>
          <a:noFill/>
          <a:ln/>
        </p:spPr>
        <p:txBody>
          <a:bodyPr wrap="square" lIns="0" tIns="0" rIns="0" bIns="0" rtlCol="0" anchor="ctr"/>
          <a:lstStyle/>
          <a:p>
            <a:pPr algn="ctr" indent="0" marL="0">
              <a:buNone/>
            </a:pPr>
            <a:r>
              <a:rPr lang="en-US" sz="1700" b="1" dirty="0">
                <a:solidFill>
                  <a:srgbClr val="1E2761"/>
                </a:solidFill>
                <a:latin typeface="Cambria" pitchFamily="34" charset="0"/>
                <a:ea typeface="Cambria" pitchFamily="34" charset="-122"/>
                <a:cs typeface="Cambria" pitchFamily="34" charset="-120"/>
              </a:rPr>
              <a:t>Pending</a:t>
            </a:r>
            <a:endParaRPr lang="en-US" sz="1700" dirty="0"/>
          </a:p>
        </p:txBody>
      </p:sp>
      <p:sp>
        <p:nvSpPr>
          <p:cNvPr id="5" name="Text 3"/>
          <p:cNvSpPr/>
          <p:nvPr/>
        </p:nvSpPr>
        <p:spPr>
          <a:xfrm>
            <a:off x="594360" y="2240280"/>
            <a:ext cx="1645920" cy="914400"/>
          </a:xfrm>
          <a:prstGeom prst="rect">
            <a:avLst/>
          </a:prstGeom>
          <a:noFill/>
          <a:ln/>
        </p:spPr>
        <p:txBody>
          <a:bodyPr wrap="square" lIns="0" tIns="0" rIns="0" bIns="0" rtlCol="0" anchor="ctr"/>
          <a:lstStyle/>
          <a:p>
            <a:pPr algn="ctr" indent="0" marL="0">
              <a:buNone/>
            </a:pPr>
            <a:r>
              <a:rPr lang="en-US" sz="1150" dirty="0">
                <a:solidFill>
                  <a:srgbClr val="1E2761"/>
                </a:solidFill>
                <a:latin typeface="Calibri" pitchFamily="34" charset="0"/>
                <a:ea typeface="Calibri" pitchFamily="34" charset="-122"/>
                <a:cs typeface="Calibri" pitchFamily="34" charset="-120"/>
              </a:rPr>
              <a:t>resource created</a:t>
            </a:r>
            <a:endParaRPr lang="en-US" sz="1150" dirty="0"/>
          </a:p>
        </p:txBody>
      </p:sp>
      <p:sp>
        <p:nvSpPr>
          <p:cNvPr id="6" name="Shape 4"/>
          <p:cNvSpPr/>
          <p:nvPr/>
        </p:nvSpPr>
        <p:spPr>
          <a:xfrm>
            <a:off x="2395728" y="2395728"/>
            <a:ext cx="256032" cy="0"/>
          </a:xfrm>
          <a:prstGeom prst="line">
            <a:avLst/>
          </a:prstGeom>
          <a:noFill/>
          <a:ln w="31750">
            <a:solidFill>
              <a:srgbClr val="5B6478"/>
            </a:solidFill>
            <a:prstDash val="solid"/>
            <a:tailEnd type="triangle"/>
          </a:ln>
        </p:spPr>
      </p:sp>
      <p:sp>
        <p:nvSpPr>
          <p:cNvPr id="7" name="Shape 5"/>
          <p:cNvSpPr/>
          <p:nvPr/>
        </p:nvSpPr>
        <p:spPr>
          <a:xfrm>
            <a:off x="2670048" y="1554480"/>
            <a:ext cx="1920240" cy="1691640"/>
          </a:xfrm>
          <a:prstGeom prst="roundRect">
            <a:avLst>
              <a:gd name="adj" fmla="val 5405"/>
            </a:avLst>
          </a:prstGeom>
          <a:solidFill>
            <a:srgbClr val="2EC4B6"/>
          </a:solidFill>
          <a:ln/>
          <a:effectLst>
            <a:outerShdw sx="100000" sy="100000" kx="0" ky="0" algn="bl" rotWithShape="0" blurRad="76200" dist="25400" dir="2700000">
              <a:srgbClr val="000000">
                <a:alpha val="14000"/>
              </a:srgbClr>
            </a:outerShdw>
          </a:effectLst>
        </p:spPr>
      </p:sp>
      <p:sp>
        <p:nvSpPr>
          <p:cNvPr id="8" name="Text 6"/>
          <p:cNvSpPr/>
          <p:nvPr/>
        </p:nvSpPr>
        <p:spPr>
          <a:xfrm>
            <a:off x="2670048" y="1755648"/>
            <a:ext cx="1920240" cy="457200"/>
          </a:xfrm>
          <a:prstGeom prst="rect">
            <a:avLst/>
          </a:prstGeom>
          <a:noFill/>
          <a:ln/>
        </p:spPr>
        <p:txBody>
          <a:bodyPr wrap="square" lIns="0" tIns="0" rIns="0" bIns="0" rtlCol="0" anchor="ctr"/>
          <a:lstStyle/>
          <a:p>
            <a:pPr algn="ctr" indent="0" marL="0">
              <a:buNone/>
            </a:pPr>
            <a:r>
              <a:rPr lang="en-US" sz="1700" b="1" dirty="0">
                <a:solidFill>
                  <a:srgbClr val="1E2761"/>
                </a:solidFill>
                <a:latin typeface="Cambria" pitchFamily="34" charset="0"/>
                <a:ea typeface="Cambria" pitchFamily="34" charset="-122"/>
                <a:cs typeface="Cambria" pitchFamily="34" charset="-120"/>
              </a:rPr>
              <a:t>Active</a:t>
            </a:r>
            <a:endParaRPr lang="en-US" sz="1700" dirty="0"/>
          </a:p>
        </p:txBody>
      </p:sp>
      <p:sp>
        <p:nvSpPr>
          <p:cNvPr id="9" name="Text 7"/>
          <p:cNvSpPr/>
          <p:nvPr/>
        </p:nvSpPr>
        <p:spPr>
          <a:xfrm>
            <a:off x="2807208" y="2240280"/>
            <a:ext cx="1645920" cy="914400"/>
          </a:xfrm>
          <a:prstGeom prst="rect">
            <a:avLst/>
          </a:prstGeom>
          <a:noFill/>
          <a:ln/>
        </p:spPr>
        <p:txBody>
          <a:bodyPr wrap="square" lIns="0" tIns="0" rIns="0" bIns="0" rtlCol="0" anchor="ctr"/>
          <a:lstStyle/>
          <a:p>
            <a:pPr algn="ctr" indent="0" marL="0">
              <a:buNone/>
            </a:pPr>
            <a:r>
              <a:rPr lang="en-US" sz="1150" dirty="0">
                <a:solidFill>
                  <a:srgbClr val="1E2761"/>
                </a:solidFill>
                <a:latin typeface="Calibri" pitchFamily="34" charset="0"/>
                <a:ea typeface="Calibri" pitchFamily="34" charset="-122"/>
                <a:cs typeface="Calibri" pitchFamily="34" charset="-120"/>
              </a:rPr>
              <a:t>window open — machine in cluster</a:t>
            </a:r>
            <a:endParaRPr lang="en-US" sz="1150" dirty="0"/>
          </a:p>
        </p:txBody>
      </p:sp>
      <p:sp>
        <p:nvSpPr>
          <p:cNvPr id="10" name="Shape 8"/>
          <p:cNvSpPr/>
          <p:nvPr/>
        </p:nvSpPr>
        <p:spPr>
          <a:xfrm>
            <a:off x="4608576" y="2395728"/>
            <a:ext cx="256032" cy="0"/>
          </a:xfrm>
          <a:prstGeom prst="line">
            <a:avLst/>
          </a:prstGeom>
          <a:noFill/>
          <a:ln w="31750">
            <a:solidFill>
              <a:srgbClr val="5B6478"/>
            </a:solidFill>
            <a:prstDash val="solid"/>
            <a:tailEnd type="triangle"/>
          </a:ln>
        </p:spPr>
      </p:sp>
      <p:sp>
        <p:nvSpPr>
          <p:cNvPr id="11" name="Shape 9"/>
          <p:cNvSpPr/>
          <p:nvPr/>
        </p:nvSpPr>
        <p:spPr>
          <a:xfrm>
            <a:off x="4882896" y="1554480"/>
            <a:ext cx="1920240" cy="1691640"/>
          </a:xfrm>
          <a:prstGeom prst="roundRect">
            <a:avLst>
              <a:gd name="adj" fmla="val 5405"/>
            </a:avLst>
          </a:prstGeom>
          <a:solidFill>
            <a:srgbClr val="F4A259"/>
          </a:solidFill>
          <a:ln/>
          <a:effectLst>
            <a:outerShdw sx="100000" sy="100000" kx="0" ky="0" algn="bl" rotWithShape="0" blurRad="76200" dist="25400" dir="2700000">
              <a:srgbClr val="000000">
                <a:alpha val="14000"/>
              </a:srgbClr>
            </a:outerShdw>
          </a:effectLst>
        </p:spPr>
      </p:sp>
      <p:sp>
        <p:nvSpPr>
          <p:cNvPr id="12" name="Text 10"/>
          <p:cNvSpPr/>
          <p:nvPr/>
        </p:nvSpPr>
        <p:spPr>
          <a:xfrm>
            <a:off x="4882896" y="1755648"/>
            <a:ext cx="1920240" cy="457200"/>
          </a:xfrm>
          <a:prstGeom prst="rect">
            <a:avLst/>
          </a:prstGeom>
          <a:noFill/>
          <a:ln/>
        </p:spPr>
        <p:txBody>
          <a:bodyPr wrap="square" lIns="0" tIns="0" rIns="0" bIns="0" rtlCol="0" anchor="ctr"/>
          <a:lstStyle/>
          <a:p>
            <a:pPr algn="ctr" indent="0" marL="0">
              <a:buNone/>
            </a:pPr>
            <a:r>
              <a:rPr lang="en-US" sz="1700" b="1" dirty="0">
                <a:solidFill>
                  <a:srgbClr val="1E2761"/>
                </a:solidFill>
                <a:latin typeface="Cambria" pitchFamily="34" charset="0"/>
                <a:ea typeface="Cambria" pitchFamily="34" charset="-122"/>
                <a:cs typeface="Cambria" pitchFamily="34" charset="-120"/>
              </a:rPr>
              <a:t>ShuttingDown</a:t>
            </a:r>
            <a:endParaRPr lang="en-US" sz="1700" dirty="0"/>
          </a:p>
        </p:txBody>
      </p:sp>
      <p:sp>
        <p:nvSpPr>
          <p:cNvPr id="13" name="Text 11"/>
          <p:cNvSpPr/>
          <p:nvPr/>
        </p:nvSpPr>
        <p:spPr>
          <a:xfrm>
            <a:off x="5020056" y="2240280"/>
            <a:ext cx="1645920" cy="914400"/>
          </a:xfrm>
          <a:prstGeom prst="rect">
            <a:avLst/>
          </a:prstGeom>
          <a:noFill/>
          <a:ln/>
        </p:spPr>
        <p:txBody>
          <a:bodyPr wrap="square" lIns="0" tIns="0" rIns="0" bIns="0" rtlCol="0" anchor="ctr"/>
          <a:lstStyle/>
          <a:p>
            <a:pPr algn="ctr" indent="0" marL="0">
              <a:buNone/>
            </a:pPr>
            <a:r>
              <a:rPr lang="en-US" sz="1150" dirty="0">
                <a:solidFill>
                  <a:srgbClr val="1E2761"/>
                </a:solidFill>
                <a:latin typeface="Calibri" pitchFamily="34" charset="0"/>
                <a:ea typeface="Calibri" pitchFamily="34" charset="-122"/>
                <a:cs typeface="Calibri" pitchFamily="34" charset="-120"/>
              </a:rPr>
              <a:t>window closed — cordon, evict, drain</a:t>
            </a:r>
            <a:endParaRPr lang="en-US" sz="1150" dirty="0"/>
          </a:p>
        </p:txBody>
      </p:sp>
      <p:sp>
        <p:nvSpPr>
          <p:cNvPr id="14" name="Shape 12"/>
          <p:cNvSpPr/>
          <p:nvPr/>
        </p:nvSpPr>
        <p:spPr>
          <a:xfrm>
            <a:off x="6821424" y="2395728"/>
            <a:ext cx="256032" cy="0"/>
          </a:xfrm>
          <a:prstGeom prst="line">
            <a:avLst/>
          </a:prstGeom>
          <a:noFill/>
          <a:ln w="31750">
            <a:solidFill>
              <a:srgbClr val="5B6478"/>
            </a:solidFill>
            <a:prstDash val="solid"/>
            <a:tailEnd type="triangle"/>
          </a:ln>
        </p:spPr>
      </p:sp>
      <p:sp>
        <p:nvSpPr>
          <p:cNvPr id="15" name="Shape 13"/>
          <p:cNvSpPr/>
          <p:nvPr/>
        </p:nvSpPr>
        <p:spPr>
          <a:xfrm>
            <a:off x="7095744" y="1554480"/>
            <a:ext cx="1920240" cy="1691640"/>
          </a:xfrm>
          <a:prstGeom prst="roundRect">
            <a:avLst>
              <a:gd name="adj" fmla="val 5405"/>
            </a:avLst>
          </a:prstGeom>
          <a:solidFill>
            <a:srgbClr val="1E2761"/>
          </a:solidFill>
          <a:ln/>
          <a:effectLst>
            <a:outerShdw sx="100000" sy="100000" kx="0" ky="0" algn="bl" rotWithShape="0" blurRad="76200" dist="25400" dir="2700000">
              <a:srgbClr val="000000">
                <a:alpha val="14000"/>
              </a:srgbClr>
            </a:outerShdw>
          </a:effectLst>
        </p:spPr>
      </p:sp>
      <p:sp>
        <p:nvSpPr>
          <p:cNvPr id="16" name="Text 14"/>
          <p:cNvSpPr/>
          <p:nvPr/>
        </p:nvSpPr>
        <p:spPr>
          <a:xfrm>
            <a:off x="7095744" y="1755648"/>
            <a:ext cx="1920240" cy="457200"/>
          </a:xfrm>
          <a:prstGeom prst="rect">
            <a:avLst/>
          </a:prstGeom>
          <a:noFill/>
          <a:ln/>
        </p:spPr>
        <p:txBody>
          <a:bodyPr wrap="square" lIns="0" tIns="0" rIns="0" bIns="0" rtlCol="0" anchor="ctr"/>
          <a:lstStyle/>
          <a:p>
            <a:pPr algn="ctr" indent="0" marL="0">
              <a:buNone/>
            </a:pPr>
            <a:r>
              <a:rPr lang="en-US" sz="1700" b="1" dirty="0">
                <a:solidFill>
                  <a:srgbClr val="FFFFFF"/>
                </a:solidFill>
                <a:latin typeface="Cambria" pitchFamily="34" charset="0"/>
                <a:ea typeface="Cambria" pitchFamily="34" charset="-122"/>
                <a:cs typeface="Cambria" pitchFamily="34" charset="-120"/>
              </a:rPr>
              <a:t>Inactive</a:t>
            </a:r>
            <a:endParaRPr lang="en-US" sz="1700" dirty="0"/>
          </a:p>
        </p:txBody>
      </p:sp>
      <p:sp>
        <p:nvSpPr>
          <p:cNvPr id="17" name="Text 15"/>
          <p:cNvSpPr/>
          <p:nvPr/>
        </p:nvSpPr>
        <p:spPr>
          <a:xfrm>
            <a:off x="7232904" y="2240280"/>
            <a:ext cx="1645920" cy="914400"/>
          </a:xfrm>
          <a:prstGeom prst="rect">
            <a:avLst/>
          </a:prstGeom>
          <a:noFill/>
          <a:ln/>
        </p:spPr>
        <p:txBody>
          <a:bodyPr wrap="square" lIns="0" tIns="0" rIns="0" bIns="0" rtlCol="0" anchor="ctr"/>
          <a:lstStyle/>
          <a:p>
            <a:pPr algn="ctr" indent="0" marL="0">
              <a:buNone/>
            </a:pPr>
            <a:r>
              <a:rPr lang="en-US" sz="1150" dirty="0">
                <a:solidFill>
                  <a:srgbClr val="FFFFFF"/>
                </a:solidFill>
                <a:latin typeface="Calibri" pitchFamily="34" charset="0"/>
                <a:ea typeface="Calibri" pitchFamily="34" charset="-122"/>
                <a:cs typeface="Calibri" pitchFamily="34" charset="-120"/>
              </a:rPr>
              <a:t>grace period done — machine gone</a:t>
            </a:r>
            <a:endParaRPr lang="en-US" sz="1150" dirty="0"/>
          </a:p>
        </p:txBody>
      </p:sp>
      <p:sp>
        <p:nvSpPr>
          <p:cNvPr id="18" name="Shape 16"/>
          <p:cNvSpPr/>
          <p:nvPr/>
        </p:nvSpPr>
        <p:spPr>
          <a:xfrm>
            <a:off x="457200" y="3657600"/>
            <a:ext cx="8266176" cy="868680"/>
          </a:xfrm>
          <a:prstGeom prst="roundRect">
            <a:avLst>
              <a:gd name="adj" fmla="val 8421"/>
            </a:avLst>
          </a:prstGeom>
          <a:solidFill>
            <a:srgbClr val="EFF4FE"/>
          </a:solidFill>
          <a:ln/>
        </p:spPr>
      </p:sp>
      <p:sp>
        <p:nvSpPr>
          <p:cNvPr id="19" name="Text 17"/>
          <p:cNvSpPr/>
          <p:nvPr/>
        </p:nvSpPr>
        <p:spPr>
          <a:xfrm>
            <a:off x="731520" y="3657600"/>
            <a:ext cx="7772400" cy="868680"/>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Emergency lever:  </a:t>
            </a:r>
            <a:pPr indent="0" marL="0">
              <a:buNone/>
            </a:pPr>
            <a:r>
              <a:rPr lang="en-US" sz="1400" b="1" dirty="0">
                <a:solidFill>
                  <a:srgbClr val="1E2761"/>
                </a:solidFill>
                <a:latin typeface="Courier New" pitchFamily="34" charset="0"/>
                <a:ea typeface="Courier New" pitchFamily="34" charset="-122"/>
                <a:cs typeface="Courier New" pitchFamily="34" charset="-120"/>
              </a:rPr>
              <a:t>killSwitch: true</a:t>
            </a:r>
            <a:pPr indent="0" marL="0">
              <a:buNone/>
            </a:pPr>
            <a:r>
              <a:rPr lang="en-US" sz="1400" dirty="0">
                <a:solidFill>
                  <a:srgbClr val="1A1F36"/>
                </a:solidFill>
                <a:latin typeface="Calibri" pitchFamily="34" charset="0"/>
                <a:ea typeface="Calibri" pitchFamily="34" charset="-122"/>
                <a:cs typeface="Calibri" pitchFamily="34" charset="-120"/>
              </a:rPr>
              <a:t>  skips the grace period → phase Terminated. You'll meet it in Flag 3.</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292608"/>
            <a:ext cx="82296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Today is a CTF, not a lecture</a:t>
            </a:r>
            <a:endParaRPr lang="en-US" sz="3000" dirty="0"/>
          </a:p>
        </p:txBody>
      </p:sp>
      <p:sp>
        <p:nvSpPr>
          <p:cNvPr id="3" name="Shape 1"/>
          <p:cNvSpPr/>
          <p:nvPr/>
        </p:nvSpPr>
        <p:spPr>
          <a:xfrm>
            <a:off x="457200" y="1325880"/>
            <a:ext cx="2651760" cy="2651760"/>
          </a:xfrm>
          <a:prstGeom prst="roundRect">
            <a:avLst>
              <a:gd name="adj" fmla="val 3448"/>
            </a:avLst>
          </a:prstGeom>
          <a:solidFill>
            <a:srgbClr val="27336E"/>
          </a:solidFill>
          <a:ln/>
        </p:spPr>
      </p:sp>
      <p:sp>
        <p:nvSpPr>
          <p:cNvPr id="4" name="Shape 2"/>
          <p:cNvSpPr/>
          <p:nvPr/>
        </p:nvSpPr>
        <p:spPr>
          <a:xfrm>
            <a:off x="1490472" y="1554480"/>
            <a:ext cx="585216" cy="585216"/>
          </a:xfrm>
          <a:prstGeom prst="ellipse">
            <a:avLst/>
          </a:prstGeom>
          <a:solidFill>
            <a:srgbClr val="2EC4B6"/>
          </a:solidFill>
          <a:ln/>
        </p:spPr>
      </p:sp>
      <p:pic>
        <p:nvPicPr>
          <p:cNvPr id="5" name="Image 0" descr="preencoded.png">    </p:cNvPr>
          <p:cNvPicPr>
            <a:picLocks noChangeAspect="1"/>
          </p:cNvPicPr>
          <p:nvPr/>
        </p:nvPicPr>
        <p:blipFill>
          <a:blip r:embed="rId1"/>
          <a:stretch>
            <a:fillRect/>
          </a:stretch>
        </p:blipFill>
        <p:spPr>
          <a:xfrm>
            <a:off x="1618488" y="1682496"/>
            <a:ext cx="329184" cy="329184"/>
          </a:xfrm>
          <a:prstGeom prst="rect">
            <a:avLst/>
          </a:prstGeom>
        </p:spPr>
      </p:pic>
      <p:sp>
        <p:nvSpPr>
          <p:cNvPr id="6" name="Text 3"/>
          <p:cNvSpPr/>
          <p:nvPr/>
        </p:nvSpPr>
        <p:spPr>
          <a:xfrm>
            <a:off x="457200" y="2286000"/>
            <a:ext cx="265176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Choose your adventure ×2</a:t>
            </a:r>
            <a:endParaRPr lang="en-US" sz="1500" dirty="0"/>
          </a:p>
        </p:txBody>
      </p:sp>
      <p:sp>
        <p:nvSpPr>
          <p:cNvPr id="7" name="Text 4"/>
          <p:cNvSpPr/>
          <p:nvPr/>
        </p:nvSpPr>
        <p:spPr>
          <a:xfrm>
            <a:off x="658368" y="2724912"/>
            <a:ext cx="2249424" cy="1143000"/>
          </a:xfrm>
          <a:prstGeom prst="rect">
            <a:avLst/>
          </a:prstGeom>
          <a:noFill/>
          <a:ln/>
        </p:spPr>
        <p:txBody>
          <a:bodyPr wrap="square" lIns="0" tIns="0" rIns="0" bIns="0" rtlCol="0" anchor="ctr"/>
          <a:lstStyle/>
          <a:p>
            <a:pPr algn="ctr" indent="0" marL="0">
              <a:buNone/>
            </a:pPr>
            <a:r>
              <a:rPr lang="en-US" sz="1100" dirty="0">
                <a:solidFill>
                  <a:srgbClr val="CADCFC"/>
                </a:solidFill>
                <a:latin typeface="Calibri" pitchFamily="34" charset="0"/>
                <a:ea typeface="Calibri" pitchFamily="34" charset="-122"/>
                <a:cs typeface="Calibri" pitchFamily="34" charset="-120"/>
              </a:rPr>
              <a:t>Pick a scenario flavour (simplified vs real), then an environment tier (browser vs local). Same flags either way.</a:t>
            </a:r>
            <a:endParaRPr lang="en-US" sz="1100" dirty="0"/>
          </a:p>
        </p:txBody>
      </p:sp>
      <p:sp>
        <p:nvSpPr>
          <p:cNvPr id="8" name="Shape 5"/>
          <p:cNvSpPr/>
          <p:nvPr/>
        </p:nvSpPr>
        <p:spPr>
          <a:xfrm>
            <a:off x="3319272" y="1325880"/>
            <a:ext cx="2651760" cy="2651760"/>
          </a:xfrm>
          <a:prstGeom prst="roundRect">
            <a:avLst>
              <a:gd name="adj" fmla="val 3448"/>
            </a:avLst>
          </a:prstGeom>
          <a:solidFill>
            <a:srgbClr val="27336E"/>
          </a:solidFill>
          <a:ln/>
        </p:spPr>
      </p:sp>
      <p:sp>
        <p:nvSpPr>
          <p:cNvPr id="9" name="Shape 6"/>
          <p:cNvSpPr/>
          <p:nvPr/>
        </p:nvSpPr>
        <p:spPr>
          <a:xfrm>
            <a:off x="4352544" y="1554480"/>
            <a:ext cx="585216" cy="585216"/>
          </a:xfrm>
          <a:prstGeom prst="ellipse">
            <a:avLst/>
          </a:prstGeom>
          <a:solidFill>
            <a:srgbClr val="2EC4B6"/>
          </a:solidFill>
          <a:ln/>
        </p:spPr>
      </p:sp>
      <p:pic>
        <p:nvPicPr>
          <p:cNvPr id="10" name="Image 1" descr="preencoded.png">    </p:cNvPr>
          <p:cNvPicPr>
            <a:picLocks noChangeAspect="1"/>
          </p:cNvPicPr>
          <p:nvPr/>
        </p:nvPicPr>
        <p:blipFill>
          <a:blip r:embed="rId2"/>
          <a:stretch>
            <a:fillRect/>
          </a:stretch>
        </p:blipFill>
        <p:spPr>
          <a:xfrm>
            <a:off x="4480560" y="1682496"/>
            <a:ext cx="329184" cy="329184"/>
          </a:xfrm>
          <a:prstGeom prst="rect">
            <a:avLst/>
          </a:prstGeom>
        </p:spPr>
      </p:pic>
      <p:sp>
        <p:nvSpPr>
          <p:cNvPr id="11" name="Text 7"/>
          <p:cNvSpPr/>
          <p:nvPr/>
        </p:nvSpPr>
        <p:spPr>
          <a:xfrm>
            <a:off x="3319272" y="2286000"/>
            <a:ext cx="265176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Capture flags</a:t>
            </a:r>
            <a:endParaRPr lang="en-US" sz="1500" dirty="0"/>
          </a:p>
        </p:txBody>
      </p:sp>
      <p:sp>
        <p:nvSpPr>
          <p:cNvPr id="12" name="Text 8"/>
          <p:cNvSpPr/>
          <p:nvPr/>
        </p:nvSpPr>
        <p:spPr>
          <a:xfrm>
            <a:off x="3520440" y="2724912"/>
            <a:ext cx="2249424" cy="1143000"/>
          </a:xfrm>
          <a:prstGeom prst="rect">
            <a:avLst/>
          </a:prstGeom>
          <a:noFill/>
          <a:ln/>
        </p:spPr>
        <p:txBody>
          <a:bodyPr wrap="square" lIns="0" tIns="0" rIns="0" bIns="0" rtlCol="0" anchor="ctr"/>
          <a:lstStyle/>
          <a:p>
            <a:pPr algn="ctr" indent="0" marL="0">
              <a:buNone/>
            </a:pPr>
            <a:r>
              <a:rPr lang="en-US" sz="1100" dirty="0">
                <a:solidFill>
                  <a:srgbClr val="CADCFC"/>
                </a:solidFill>
                <a:latin typeface="Calibri" pitchFamily="34" charset="0"/>
                <a:ea typeface="Calibri" pitchFamily="34" charset="-122"/>
                <a:cs typeface="Calibri" pitchFamily="34" charset="-120"/>
              </a:rPr>
              <a:t>Each challenge emits FLAG{…} when your cluster reaches the right state. CHECK button or verify.sh — no honour system.</a:t>
            </a:r>
            <a:endParaRPr lang="en-US" sz="1100" dirty="0"/>
          </a:p>
        </p:txBody>
      </p:sp>
      <p:sp>
        <p:nvSpPr>
          <p:cNvPr id="13" name="Shape 9"/>
          <p:cNvSpPr/>
          <p:nvPr/>
        </p:nvSpPr>
        <p:spPr>
          <a:xfrm>
            <a:off x="6181344" y="1325880"/>
            <a:ext cx="2651760" cy="2651760"/>
          </a:xfrm>
          <a:prstGeom prst="roundRect">
            <a:avLst>
              <a:gd name="adj" fmla="val 3448"/>
            </a:avLst>
          </a:prstGeom>
          <a:solidFill>
            <a:srgbClr val="27336E"/>
          </a:solidFill>
          <a:ln/>
        </p:spPr>
      </p:sp>
      <p:sp>
        <p:nvSpPr>
          <p:cNvPr id="14" name="Shape 10"/>
          <p:cNvSpPr/>
          <p:nvPr/>
        </p:nvSpPr>
        <p:spPr>
          <a:xfrm>
            <a:off x="7214616" y="1554480"/>
            <a:ext cx="585216" cy="585216"/>
          </a:xfrm>
          <a:prstGeom prst="ellipse">
            <a:avLst/>
          </a:prstGeom>
          <a:solidFill>
            <a:srgbClr val="2EC4B6"/>
          </a:solidFill>
          <a:ln/>
        </p:spPr>
      </p:sp>
      <p:pic>
        <p:nvPicPr>
          <p:cNvPr id="15" name="Image 2" descr="preencoded.png">    </p:cNvPr>
          <p:cNvPicPr>
            <a:picLocks noChangeAspect="1"/>
          </p:cNvPicPr>
          <p:nvPr/>
        </p:nvPicPr>
        <p:blipFill>
          <a:blip r:embed="rId3"/>
          <a:stretch>
            <a:fillRect/>
          </a:stretch>
        </p:blipFill>
        <p:spPr>
          <a:xfrm>
            <a:off x="7342632" y="1682496"/>
            <a:ext cx="329184" cy="329184"/>
          </a:xfrm>
          <a:prstGeom prst="rect">
            <a:avLst/>
          </a:prstGeom>
        </p:spPr>
      </p:pic>
      <p:sp>
        <p:nvSpPr>
          <p:cNvPr id="16" name="Text 11"/>
          <p:cNvSpPr/>
          <p:nvPr/>
        </p:nvSpPr>
        <p:spPr>
          <a:xfrm>
            <a:off x="6181344" y="2286000"/>
            <a:ext cx="2651760" cy="41148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Beat the window</a:t>
            </a:r>
            <a:endParaRPr lang="en-US" sz="1500" dirty="0"/>
          </a:p>
        </p:txBody>
      </p:sp>
      <p:sp>
        <p:nvSpPr>
          <p:cNvPr id="17" name="Text 12"/>
          <p:cNvSpPr/>
          <p:nvPr/>
        </p:nvSpPr>
        <p:spPr>
          <a:xfrm>
            <a:off x="6382512" y="2724912"/>
            <a:ext cx="2249424" cy="1143000"/>
          </a:xfrm>
          <a:prstGeom prst="rect">
            <a:avLst/>
          </a:prstGeom>
          <a:noFill/>
          <a:ln/>
        </p:spPr>
        <p:txBody>
          <a:bodyPr wrap="square" lIns="0" tIns="0" rIns="0" bIns="0" rtlCol="0" anchor="ctr"/>
          <a:lstStyle/>
          <a:p>
            <a:pPr algn="ctr" indent="0" marL="0">
              <a:buNone/>
            </a:pPr>
            <a:r>
              <a:rPr lang="en-US" sz="1100" dirty="0">
                <a:solidFill>
                  <a:srgbClr val="CADCFC"/>
                </a:solidFill>
                <a:latin typeface="Calibri" pitchFamily="34" charset="0"/>
                <a:ea typeface="Calibri" pitchFamily="34" charset="-122"/>
                <a:cs typeface="Calibri" pitchFamily="34" charset="-120"/>
              </a:rPr>
              <a:t>The subject *is* the clock: schedules open, drains race grace periods. The game mechanics are the product mechanics.</a:t>
            </a:r>
            <a:endParaRPr lang="en-US" sz="1100" dirty="0"/>
          </a:p>
        </p:txBody>
      </p:sp>
      <p:sp>
        <p:nvSpPr>
          <p:cNvPr id="18" name="Text 13"/>
          <p:cNvSpPr/>
          <p:nvPr/>
        </p:nvSpPr>
        <p:spPr>
          <a:xfrm>
            <a:off x="457200" y="4251960"/>
            <a:ext cx="8229600" cy="457200"/>
          </a:xfrm>
          <a:prstGeom prst="rect">
            <a:avLst/>
          </a:prstGeom>
          <a:noFill/>
          <a:ln/>
        </p:spPr>
        <p:txBody>
          <a:bodyPr wrap="square" lIns="0" tIns="0" rIns="0" bIns="0" rtlCol="0" anchor="ctr"/>
          <a:lstStyle/>
          <a:p>
            <a:pPr algn="ctr" indent="0" marL="0">
              <a:buNone/>
            </a:pPr>
            <a:r>
              <a:rPr lang="en-US" sz="1300" dirty="0">
                <a:solidFill>
                  <a:srgbClr val="CADCFC"/>
                </a:solidFill>
                <a:latin typeface="Calibri" pitchFamily="34" charset="0"/>
                <a:ea typeface="Calibri" pitchFamily="34" charset="-122"/>
                <a:cs typeface="Calibri" pitchFamily="34" charset="-120"/>
              </a:rPr>
              <a:t>Agenda: setup &amp; choose (20m) · Flags 1–3 (90m) · bonuses (open-ended) · debrief (15m). Breaks when you need them.</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640080"/>
          </a:xfrm>
          <a:prstGeom prst="rect">
            <a:avLst/>
          </a:prstGeom>
          <a:noFill/>
          <a:ln/>
        </p:spPr>
        <p:txBody>
          <a:bodyPr wrap="square" lIns="0" tIns="0" rIns="0" bIns="0" rtlCol="0" anchor="ctr"/>
          <a:lstStyle/>
          <a:p>
            <a:pPr indent="0" marL="0">
              <a:buNone/>
            </a:pPr>
            <a:r>
              <a:rPr lang="en-US" sz="3000" b="1" dirty="0">
                <a:solidFill>
                  <a:srgbClr val="1A1F36"/>
                </a:solidFill>
                <a:latin typeface="Cambria" pitchFamily="34" charset="0"/>
                <a:ea typeface="Cambria" pitchFamily="34" charset="-122"/>
                <a:cs typeface="Cambria" pitchFamily="34" charset="-120"/>
              </a:rPr>
              <a:t>Choice #1 — how real do you want it?</a:t>
            </a:r>
            <a:endParaRPr lang="en-US" sz="3000" dirty="0"/>
          </a:p>
        </p:txBody>
      </p:sp>
      <p:sp>
        <p:nvSpPr>
          <p:cNvPr id="3" name="Shape 1"/>
          <p:cNvSpPr/>
          <p:nvPr/>
        </p:nvSpPr>
        <p:spPr>
          <a:xfrm>
            <a:off x="457200" y="1097280"/>
            <a:ext cx="4023360" cy="3200400"/>
          </a:xfrm>
          <a:prstGeom prst="roundRect">
            <a:avLst>
              <a:gd name="adj" fmla="val 2857"/>
            </a:avLst>
          </a:prstGeom>
          <a:solidFill>
            <a:srgbClr val="EFF4FE"/>
          </a:solidFill>
          <a:ln/>
          <a:effectLst>
            <a:outerShdw sx="100000" sy="100000" kx="0" ky="0" algn="bl" rotWithShape="0" blurRad="76200" dist="25400" dir="2700000">
              <a:srgbClr val="000000">
                <a:alpha val="14000"/>
              </a:srgbClr>
            </a:outerShdw>
          </a:effectLst>
        </p:spPr>
      </p:sp>
      <p:pic>
        <p:nvPicPr>
          <p:cNvPr id="4" name="Image 0" descr="preencoded.png">    </p:cNvPr>
          <p:cNvPicPr>
            <a:picLocks noChangeAspect="1"/>
          </p:cNvPicPr>
          <p:nvPr/>
        </p:nvPicPr>
        <p:blipFill>
          <a:blip r:embed="rId1"/>
          <a:stretch>
            <a:fillRect/>
          </a:stretch>
        </p:blipFill>
        <p:spPr>
          <a:xfrm>
            <a:off x="777240" y="1325880"/>
            <a:ext cx="457200" cy="457200"/>
          </a:xfrm>
          <a:prstGeom prst="rect">
            <a:avLst/>
          </a:prstGeom>
        </p:spPr>
      </p:pic>
      <p:sp>
        <p:nvSpPr>
          <p:cNvPr id="5" name="Text 2"/>
          <p:cNvSpPr/>
          <p:nvPr/>
        </p:nvSpPr>
        <p:spPr>
          <a:xfrm>
            <a:off x="1371600" y="1325880"/>
            <a:ext cx="3017520" cy="457200"/>
          </a:xfrm>
          <a:prstGeom prst="rect">
            <a:avLst/>
          </a:prstGeom>
          <a:noFill/>
          <a:ln/>
        </p:spPr>
        <p:txBody>
          <a:bodyPr wrap="square" lIns="0" tIns="0" rIns="0" bIns="0" rtlCol="0" anchor="ctr"/>
          <a:lstStyle/>
          <a:p>
            <a:pPr indent="0" marL="0">
              <a:buNone/>
            </a:pPr>
            <a:r>
              <a:rPr lang="en-US" sz="1700" b="1" dirty="0">
                <a:solidFill>
                  <a:srgbClr val="1E2761"/>
                </a:solidFill>
                <a:latin typeface="Cambria" pitchFamily="34" charset="0"/>
                <a:ea typeface="Cambria" pitchFamily="34" charset="-122"/>
                <a:cs typeface="Cambria" pitchFamily="34" charset="-120"/>
              </a:rPr>
              <a:t>🟢  Simplified — CAPD</a:t>
            </a:r>
            <a:endParaRPr lang="en-US" sz="1700" dirty="0"/>
          </a:p>
        </p:txBody>
      </p:sp>
      <p:sp>
        <p:nvSpPr>
          <p:cNvPr id="6" name="Text 3"/>
          <p:cNvSpPr/>
          <p:nvPr/>
        </p:nvSpPr>
        <p:spPr>
          <a:xfrm>
            <a:off x="777240" y="1965960"/>
            <a:ext cx="3474720" cy="2194560"/>
          </a:xfrm>
          <a:prstGeom prst="rect">
            <a:avLst/>
          </a:prstGeom>
          <a:noFill/>
          <a:ln/>
        </p:spPr>
        <p:txBody>
          <a:bodyPr wrap="square" lIns="0" tIns="0" rIns="0" bIns="0" rtlCol="0" anchor="ctr"/>
          <a:lstStyle/>
          <a:p>
            <a:pPr marL="342900" indent="-342900">
              <a:spcAft>
                <a:spcPts val="800"/>
              </a:spcAft>
              <a:buSzPct val="100000"/>
              <a:buChar char="•"/>
            </a:pPr>
            <a:r>
              <a:rPr lang="en-US" sz="1250" dirty="0">
                <a:solidFill>
                  <a:srgbClr val="1A1F36"/>
                </a:solidFill>
                <a:latin typeface="Calibri" pitchFamily="34" charset="0"/>
                <a:ea typeface="Calibri" pitchFamily="34" charset="-122"/>
                <a:cs typeface="Calibri" pitchFamily="34" charset="-120"/>
              </a:rPr>
              <a:t>KubeadmConfig + DockerMachine — "machines" are sibling containers</a:t>
            </a:r>
            <a:endParaRPr lang="en-US" sz="1250" dirty="0"/>
          </a:p>
          <a:p>
            <a:pPr marL="342900" indent="-342900">
              <a:spcAft>
                <a:spcPts val="800"/>
              </a:spcAft>
              <a:buSzPct val="100000"/>
              <a:buChar char="•"/>
            </a:pPr>
            <a:r>
              <a:rPr lang="en-US" sz="1250" dirty="0">
                <a:solidFill>
                  <a:srgbClr val="1A1F36"/>
                </a:solidFill>
                <a:latin typeface="Calibri" pitchFamily="34" charset="0"/>
                <a:ea typeface="Calibri" pitchFamily="34" charset="-122"/>
                <a:cs typeface="Calibri" pitchFamily="34" charset="-120"/>
              </a:rPr>
              <a:t>Zero cloud, zero SSH, fastest loop</a:t>
            </a:r>
            <a:endParaRPr lang="en-US" sz="1250" dirty="0"/>
          </a:p>
          <a:p>
            <a:pPr marL="342900" indent="-342900">
              <a:spcAft>
                <a:spcPts val="800"/>
              </a:spcAft>
              <a:buSzPct val="100000"/>
              <a:buChar char="•"/>
            </a:pPr>
            <a:r>
              <a:rPr lang="en-US" sz="1250" b="1" dirty="0">
                <a:solidFill>
                  <a:srgbClr val="1A1F36"/>
                </a:solidFill>
                <a:latin typeface="Calibri" pitchFamily="34" charset="0"/>
                <a:ea typeface="Calibri" pitchFamily="34" charset="-122"/>
                <a:cs typeface="Calibri" pitchFamily="34" charset="-120"/>
              </a:rPr>
              <a:t>Explicitly NOT a real-world setup — a learning shortcut</a:t>
            </a:r>
            <a:endParaRPr lang="en-US" sz="1250" dirty="0"/>
          </a:p>
        </p:txBody>
      </p:sp>
      <p:sp>
        <p:nvSpPr>
          <p:cNvPr id="7" name="Shape 4"/>
          <p:cNvSpPr/>
          <p:nvPr/>
        </p:nvSpPr>
        <p:spPr>
          <a:xfrm>
            <a:off x="4663440" y="1097280"/>
            <a:ext cx="4023360" cy="3200400"/>
          </a:xfrm>
          <a:prstGeom prst="roundRect">
            <a:avLst>
              <a:gd name="adj" fmla="val 2857"/>
            </a:avLst>
          </a:prstGeom>
          <a:solidFill>
            <a:srgbClr val="1E2761"/>
          </a:solidFill>
          <a:ln/>
          <a:effectLst>
            <a:outerShdw sx="100000" sy="100000" kx="0" ky="0" algn="bl" rotWithShape="0" blurRad="76200" dist="25400" dir="2700000">
              <a:srgbClr val="000000">
                <a:alpha val="14000"/>
              </a:srgbClr>
            </a:outerShdw>
          </a:effectLst>
        </p:spPr>
      </p:sp>
      <p:pic>
        <p:nvPicPr>
          <p:cNvPr id="8" name="Image 1" descr="preencoded.png">    </p:cNvPr>
          <p:cNvPicPr>
            <a:picLocks noChangeAspect="1"/>
          </p:cNvPicPr>
          <p:nvPr/>
        </p:nvPicPr>
        <p:blipFill>
          <a:blip r:embed="rId2"/>
          <a:stretch>
            <a:fillRect/>
          </a:stretch>
        </p:blipFill>
        <p:spPr>
          <a:xfrm>
            <a:off x="4983480" y="1325880"/>
            <a:ext cx="457200" cy="457200"/>
          </a:xfrm>
          <a:prstGeom prst="rect">
            <a:avLst/>
          </a:prstGeom>
        </p:spPr>
      </p:pic>
      <p:sp>
        <p:nvSpPr>
          <p:cNvPr id="9" name="Text 5"/>
          <p:cNvSpPr/>
          <p:nvPr/>
        </p:nvSpPr>
        <p:spPr>
          <a:xfrm>
            <a:off x="5577840" y="1325880"/>
            <a:ext cx="3017520" cy="457200"/>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  Real — k0s + k0smotron</a:t>
            </a:r>
            <a:endParaRPr lang="en-US" sz="1700" dirty="0"/>
          </a:p>
        </p:txBody>
      </p:sp>
      <p:sp>
        <p:nvSpPr>
          <p:cNvPr id="10" name="Text 6"/>
          <p:cNvSpPr/>
          <p:nvPr/>
        </p:nvSpPr>
        <p:spPr>
          <a:xfrm>
            <a:off x="4983480" y="1965960"/>
            <a:ext cx="3474720" cy="2194560"/>
          </a:xfrm>
          <a:prstGeom prst="rect">
            <a:avLst/>
          </a:prstGeom>
          <a:noFill/>
          <a:ln/>
        </p:spPr>
        <p:txBody>
          <a:bodyPr wrap="square" lIns="0" tIns="0" rIns="0" bIns="0" rtlCol="0" anchor="ctr"/>
          <a:lstStyle/>
          <a:p>
            <a:pPr marL="342900" indent="-342900">
              <a:spcAft>
                <a:spcPts val="800"/>
              </a:spcAft>
              <a:buSzPct val="100000"/>
              <a:buChar char="•"/>
            </a:pPr>
            <a:r>
              <a:rPr lang="en-US" sz="1250" dirty="0">
                <a:solidFill>
                  <a:srgbClr val="CADCFC"/>
                </a:solidFill>
                <a:latin typeface="Calibri" pitchFamily="34" charset="0"/>
                <a:ea typeface="Calibri" pitchFamily="34" charset="-122"/>
                <a:cs typeface="Calibri" pitchFamily="34" charset="-120"/>
              </a:rPr>
              <a:t>K0sWorkerConfig + RemoteMachine — provisioned over SSH</a:t>
            </a:r>
            <a:endParaRPr lang="en-US" sz="1250" dirty="0"/>
          </a:p>
          <a:p>
            <a:pPr marL="342900" indent="-342900">
              <a:spcAft>
                <a:spcPts val="800"/>
              </a:spcAft>
              <a:buSzPct val="100000"/>
              <a:buChar char="•"/>
            </a:pPr>
            <a:r>
              <a:rPr lang="en-US" sz="1250" dirty="0">
                <a:solidFill>
                  <a:srgbClr val="CADCFC"/>
                </a:solidFill>
                <a:latin typeface="Calibri" pitchFamily="34" charset="0"/>
                <a:ea typeface="Calibri" pitchFamily="34" charset="-122"/>
                <a:cs typeface="Calibri" pitchFamily="34" charset="-120"/>
              </a:rPr>
              <a:t>Hosted control plane (runs as pods, burns no node)</a:t>
            </a:r>
            <a:endParaRPr lang="en-US" sz="1250" dirty="0"/>
          </a:p>
          <a:p>
            <a:pPr marL="342900" indent="-342900">
              <a:spcAft>
                <a:spcPts val="800"/>
              </a:spcAft>
              <a:buSzPct val="100000"/>
              <a:buChar char="•"/>
            </a:pPr>
            <a:r>
              <a:rPr lang="en-US" sz="1250" b="1" dirty="0">
                <a:solidFill>
                  <a:srgbClr val="2EC4B6"/>
                </a:solidFill>
                <a:latin typeface="Calibri" pitchFamily="34" charset="0"/>
                <a:ea typeface="Calibri" pitchFamily="34" charset="-122"/>
                <a:cs typeface="Calibri" pitchFamily="34" charset="-120"/>
              </a:rPr>
              <a:t>What this workshop — and the signup page — is really about</a:t>
            </a:r>
            <a:endParaRPr lang="en-US" sz="1250" dirty="0"/>
          </a:p>
        </p:txBody>
      </p:sp>
      <p:sp>
        <p:nvSpPr>
          <p:cNvPr id="11" name="Text 7"/>
          <p:cNvSpPr/>
          <p:nvPr/>
        </p:nvSpPr>
        <p:spPr>
          <a:xfrm>
            <a:off x="457200" y="4434840"/>
            <a:ext cx="8229600" cy="411480"/>
          </a:xfrm>
          <a:prstGeom prst="rect">
            <a:avLst/>
          </a:prstGeom>
          <a:noFill/>
          <a:ln/>
        </p:spPr>
        <p:txBody>
          <a:bodyPr wrap="square" lIns="0" tIns="0" rIns="0" bIns="0" rtlCol="0" anchor="ctr"/>
          <a:lstStyle/>
          <a:p>
            <a:pPr algn="ctr" indent="0" marL="0">
              <a:buNone/>
            </a:pPr>
            <a:r>
              <a:rPr lang="en-US" sz="1250" dirty="0">
                <a:solidFill>
                  <a:srgbClr val="5B6478"/>
                </a:solidFill>
                <a:latin typeface="Calibri" pitchFamily="34" charset="0"/>
                <a:ea typeface="Calibri" pitchFamily="34" charset="-122"/>
                <a:cs typeface="Calibri" pitchFamily="34" charset="-120"/>
              </a:rPr>
              <a:t>Same ScheduledMachine spec either way — 5-Spot is provider-agnostic. Start green to learn the moves, go blue to see the real thing.</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640080"/>
          </a:xfrm>
          <a:prstGeom prst="rect">
            <a:avLst/>
          </a:prstGeom>
          <a:noFill/>
          <a:ln/>
        </p:spPr>
        <p:txBody>
          <a:bodyPr wrap="square" lIns="0" tIns="0" rIns="0" bIns="0" rtlCol="0" anchor="ctr"/>
          <a:lstStyle/>
          <a:p>
            <a:pPr indent="0" marL="0">
              <a:buNone/>
            </a:pPr>
            <a:r>
              <a:rPr lang="en-US" sz="3000" b="1" dirty="0">
                <a:solidFill>
                  <a:srgbClr val="1A1F36"/>
                </a:solidFill>
                <a:latin typeface="Cambria" pitchFamily="34" charset="0"/>
                <a:ea typeface="Cambria" pitchFamily="34" charset="-122"/>
                <a:cs typeface="Cambria" pitchFamily="34" charset="-120"/>
              </a:rPr>
              <a:t>Choice #2 — where does it run?</a:t>
            </a:r>
            <a:endParaRPr lang="en-US" sz="3000" dirty="0"/>
          </a:p>
        </p:txBody>
      </p:sp>
      <p:sp>
        <p:nvSpPr>
          <p:cNvPr id="3" name="Shape 1"/>
          <p:cNvSpPr/>
          <p:nvPr/>
        </p:nvSpPr>
        <p:spPr>
          <a:xfrm>
            <a:off x="457200" y="1097280"/>
            <a:ext cx="2651760" cy="2880360"/>
          </a:xfrm>
          <a:prstGeom prst="roundRect">
            <a:avLst>
              <a:gd name="adj" fmla="val 3448"/>
            </a:avLst>
          </a:prstGeom>
          <a:solidFill>
            <a:srgbClr val="EFF4FE"/>
          </a:solidFill>
          <a:ln/>
          <a:effectLst>
            <a:outerShdw sx="100000" sy="100000" kx="0" ky="0" algn="bl" rotWithShape="0" blurRad="76200" dist="25400" dir="2700000">
              <a:srgbClr val="000000">
                <a:alpha val="14000"/>
              </a:srgbClr>
            </a:outerShdw>
          </a:effectLst>
        </p:spPr>
      </p:sp>
      <p:sp>
        <p:nvSpPr>
          <p:cNvPr id="4" name="Shape 2"/>
          <p:cNvSpPr/>
          <p:nvPr/>
        </p:nvSpPr>
        <p:spPr>
          <a:xfrm>
            <a:off x="1490472" y="1298448"/>
            <a:ext cx="585216" cy="585216"/>
          </a:xfrm>
          <a:prstGeom prst="ellipse">
            <a:avLst/>
          </a:prstGeom>
          <a:solidFill>
            <a:srgbClr val="FFFFFF"/>
          </a:solidFill>
          <a:ln/>
        </p:spPr>
      </p:sp>
      <p:pic>
        <p:nvPicPr>
          <p:cNvPr id="5" name="Image 0" descr="preencoded.png">    </p:cNvPr>
          <p:cNvPicPr>
            <a:picLocks noChangeAspect="1"/>
          </p:cNvPicPr>
          <p:nvPr/>
        </p:nvPicPr>
        <p:blipFill>
          <a:blip r:embed="rId1"/>
          <a:stretch>
            <a:fillRect/>
          </a:stretch>
        </p:blipFill>
        <p:spPr>
          <a:xfrm>
            <a:off x="1618488" y="1426464"/>
            <a:ext cx="329184" cy="329184"/>
          </a:xfrm>
          <a:prstGeom prst="rect">
            <a:avLst/>
          </a:prstGeom>
        </p:spPr>
      </p:pic>
      <p:sp>
        <p:nvSpPr>
          <p:cNvPr id="6" name="Text 3"/>
          <p:cNvSpPr/>
          <p:nvPr/>
        </p:nvSpPr>
        <p:spPr>
          <a:xfrm>
            <a:off x="457200" y="1993392"/>
            <a:ext cx="2651760" cy="384048"/>
          </a:xfrm>
          <a:prstGeom prst="rect">
            <a:avLst/>
          </a:prstGeom>
          <a:noFill/>
          <a:ln/>
        </p:spPr>
        <p:txBody>
          <a:bodyPr wrap="square" lIns="0" tIns="0" rIns="0" bIns="0" rtlCol="0" anchor="ctr"/>
          <a:lstStyle/>
          <a:p>
            <a:pPr algn="ctr" indent="0" marL="0">
              <a:buNone/>
            </a:pPr>
            <a:r>
              <a:rPr lang="en-US" sz="1550" b="1" dirty="0">
                <a:solidFill>
                  <a:srgbClr val="1E2761"/>
                </a:solidFill>
                <a:latin typeface="Cambria" pitchFamily="34" charset="0"/>
                <a:ea typeface="Cambria" pitchFamily="34" charset="-122"/>
                <a:cs typeface="Cambria" pitchFamily="34" charset="-120"/>
              </a:rPr>
              <a:t>Killercoda</a:t>
            </a:r>
            <a:endParaRPr lang="en-US" sz="1550" dirty="0"/>
          </a:p>
        </p:txBody>
      </p:sp>
      <p:sp>
        <p:nvSpPr>
          <p:cNvPr id="7" name="Text 4"/>
          <p:cNvSpPr/>
          <p:nvPr/>
        </p:nvSpPr>
        <p:spPr>
          <a:xfrm>
            <a:off x="640080" y="2395728"/>
            <a:ext cx="2286000" cy="1051560"/>
          </a:xfrm>
          <a:prstGeom prst="rect">
            <a:avLst/>
          </a:prstGeom>
          <a:noFill/>
          <a:ln/>
        </p:spPr>
        <p:txBody>
          <a:bodyPr wrap="square" lIns="0" tIns="0" rIns="0" bIns="0" rtlCol="0" anchor="ctr"/>
          <a:lstStyle/>
          <a:p>
            <a:pPr algn="ctr" indent="0" marL="0">
              <a:buNone/>
            </a:pPr>
            <a:r>
              <a:rPr lang="en-US" sz="1080" dirty="0">
                <a:solidFill>
                  <a:srgbClr val="1A1F36"/>
                </a:solidFill>
                <a:latin typeface="Calibri" pitchFamily="34" charset="0"/>
                <a:ea typeface="Calibri" pitchFamily="34" charset="-122"/>
                <a:cs typeface="Calibri" pitchFamily="34" charset="-120"/>
              </a:rPr>
              <a:t>Browser, zero install. Pre-baked to control-plane Ready — you start at the fun part.</a:t>
            </a:r>
            <a:endParaRPr lang="en-US" sz="1080" dirty="0"/>
          </a:p>
        </p:txBody>
      </p:sp>
      <p:sp>
        <p:nvSpPr>
          <p:cNvPr id="8" name="Text 5"/>
          <p:cNvSpPr/>
          <p:nvPr/>
        </p:nvSpPr>
        <p:spPr>
          <a:xfrm>
            <a:off x="640080" y="3474720"/>
            <a:ext cx="2286000" cy="411480"/>
          </a:xfrm>
          <a:prstGeom prst="rect">
            <a:avLst/>
          </a:prstGeom>
          <a:noFill/>
          <a:ln/>
        </p:spPr>
        <p:txBody>
          <a:bodyPr wrap="square" lIns="0" tIns="0" rIns="0" bIns="0" rtlCol="0" anchor="ctr"/>
          <a:lstStyle/>
          <a:p>
            <a:pPr algn="ctr" indent="0" marL="0">
              <a:buNone/>
            </a:pPr>
            <a:r>
              <a:rPr lang="en-US" sz="1000" i="1" dirty="0">
                <a:solidFill>
                  <a:srgbClr val="5B6478"/>
                </a:solidFill>
                <a:latin typeface="Calibri" pitchFamily="34" charset="0"/>
                <a:ea typeface="Calibri" pitchFamily="34" charset="-122"/>
                <a:cs typeface="Calibri" pitchFamily="34" charset="-120"/>
              </a:rPr>
              <a:t>Locked-down laptops · first-timers</a:t>
            </a:r>
            <a:endParaRPr lang="en-US" sz="1000" dirty="0"/>
          </a:p>
        </p:txBody>
      </p:sp>
      <p:sp>
        <p:nvSpPr>
          <p:cNvPr id="9" name="Shape 6"/>
          <p:cNvSpPr/>
          <p:nvPr/>
        </p:nvSpPr>
        <p:spPr>
          <a:xfrm>
            <a:off x="3319272" y="1097280"/>
            <a:ext cx="2651760" cy="2880360"/>
          </a:xfrm>
          <a:prstGeom prst="roundRect">
            <a:avLst>
              <a:gd name="adj" fmla="val 3448"/>
            </a:avLst>
          </a:prstGeom>
          <a:solidFill>
            <a:srgbClr val="EFF4FE"/>
          </a:solidFill>
          <a:ln/>
          <a:effectLst>
            <a:outerShdw sx="100000" sy="100000" kx="0" ky="0" algn="bl" rotWithShape="0" blurRad="76200" dist="25400" dir="2700000">
              <a:srgbClr val="000000">
                <a:alpha val="14000"/>
              </a:srgbClr>
            </a:outerShdw>
          </a:effectLst>
        </p:spPr>
      </p:sp>
      <p:sp>
        <p:nvSpPr>
          <p:cNvPr id="10" name="Shape 7"/>
          <p:cNvSpPr/>
          <p:nvPr/>
        </p:nvSpPr>
        <p:spPr>
          <a:xfrm>
            <a:off x="4352544" y="1298448"/>
            <a:ext cx="585216" cy="585216"/>
          </a:xfrm>
          <a:prstGeom prst="ellipse">
            <a:avLst/>
          </a:prstGeom>
          <a:solidFill>
            <a:srgbClr val="FFFFFF"/>
          </a:solidFill>
          <a:ln/>
        </p:spPr>
      </p:sp>
      <p:pic>
        <p:nvPicPr>
          <p:cNvPr id="11" name="Image 1" descr="preencoded.png">    </p:cNvPr>
          <p:cNvPicPr>
            <a:picLocks noChangeAspect="1"/>
          </p:cNvPicPr>
          <p:nvPr/>
        </p:nvPicPr>
        <p:blipFill>
          <a:blip r:embed="rId2"/>
          <a:stretch>
            <a:fillRect/>
          </a:stretch>
        </p:blipFill>
        <p:spPr>
          <a:xfrm>
            <a:off x="4480560" y="1426464"/>
            <a:ext cx="329184" cy="329184"/>
          </a:xfrm>
          <a:prstGeom prst="rect">
            <a:avLst/>
          </a:prstGeom>
        </p:spPr>
      </p:pic>
      <p:sp>
        <p:nvSpPr>
          <p:cNvPr id="12" name="Text 8"/>
          <p:cNvSpPr/>
          <p:nvPr/>
        </p:nvSpPr>
        <p:spPr>
          <a:xfrm>
            <a:off x="3319272" y="1993392"/>
            <a:ext cx="2651760" cy="384048"/>
          </a:xfrm>
          <a:prstGeom prst="rect">
            <a:avLst/>
          </a:prstGeom>
          <a:noFill/>
          <a:ln/>
        </p:spPr>
        <p:txBody>
          <a:bodyPr wrap="square" lIns="0" tIns="0" rIns="0" bIns="0" rtlCol="0" anchor="ctr"/>
          <a:lstStyle/>
          <a:p>
            <a:pPr algn="ctr" indent="0" marL="0">
              <a:buNone/>
            </a:pPr>
            <a:r>
              <a:rPr lang="en-US" sz="1550" b="1" dirty="0">
                <a:solidFill>
                  <a:srgbClr val="1E2761"/>
                </a:solidFill>
                <a:latin typeface="Cambria" pitchFamily="34" charset="0"/>
                <a:ea typeface="Cambria" pitchFamily="34" charset="-122"/>
                <a:cs typeface="Cambria" pitchFamily="34" charset="-120"/>
              </a:rPr>
              <a:t>Codespaces</a:t>
            </a:r>
            <a:endParaRPr lang="en-US" sz="1550" dirty="0"/>
          </a:p>
        </p:txBody>
      </p:sp>
      <p:sp>
        <p:nvSpPr>
          <p:cNvPr id="13" name="Text 9"/>
          <p:cNvSpPr/>
          <p:nvPr/>
        </p:nvSpPr>
        <p:spPr>
          <a:xfrm>
            <a:off x="3502152" y="2395728"/>
            <a:ext cx="2286000" cy="1051560"/>
          </a:xfrm>
          <a:prstGeom prst="rect">
            <a:avLst/>
          </a:prstGeom>
          <a:noFill/>
          <a:ln/>
        </p:spPr>
        <p:txBody>
          <a:bodyPr wrap="square" lIns="0" tIns="0" rIns="0" bIns="0" rtlCol="0" anchor="ctr"/>
          <a:lstStyle/>
          <a:p>
            <a:pPr algn="ctr" indent="0" marL="0">
              <a:buNone/>
            </a:pPr>
            <a:r>
              <a:rPr lang="en-US" sz="1080" dirty="0">
                <a:solidFill>
                  <a:srgbClr val="1A1F36"/>
                </a:solidFill>
                <a:latin typeface="Calibri" pitchFamily="34" charset="0"/>
                <a:ea typeface="Calibri" pitchFamily="34" charset="-122"/>
                <a:cs typeface="Calibri" pitchFamily="34" charset="-120"/>
              </a:rPr>
              <a:t>Browser, full bootstrap. Devcontainer ships every tool, pinned. You run the bring-up.</a:t>
            </a:r>
            <a:endParaRPr lang="en-US" sz="1080" dirty="0"/>
          </a:p>
        </p:txBody>
      </p:sp>
      <p:sp>
        <p:nvSpPr>
          <p:cNvPr id="14" name="Text 10"/>
          <p:cNvSpPr/>
          <p:nvPr/>
        </p:nvSpPr>
        <p:spPr>
          <a:xfrm>
            <a:off x="3502152" y="3474720"/>
            <a:ext cx="2286000" cy="411480"/>
          </a:xfrm>
          <a:prstGeom prst="rect">
            <a:avLst/>
          </a:prstGeom>
          <a:noFill/>
          <a:ln/>
        </p:spPr>
        <p:txBody>
          <a:bodyPr wrap="square" lIns="0" tIns="0" rIns="0" bIns="0" rtlCol="0" anchor="ctr"/>
          <a:lstStyle/>
          <a:p>
            <a:pPr algn="ctr" indent="0" marL="0">
              <a:buNone/>
            </a:pPr>
            <a:r>
              <a:rPr lang="en-US" sz="1000" i="1" dirty="0">
                <a:solidFill>
                  <a:srgbClr val="5B6478"/>
                </a:solidFill>
                <a:latin typeface="Calibri" pitchFamily="34" charset="0"/>
                <a:ea typeface="Calibri" pitchFamily="34" charset="-122"/>
                <a:cs typeface="Calibri" pitchFamily="34" charset="-120"/>
              </a:rPr>
              <a:t>Windows users · bootstrap muscle-memory</a:t>
            </a:r>
            <a:endParaRPr lang="en-US" sz="1000" dirty="0"/>
          </a:p>
        </p:txBody>
      </p:sp>
      <p:sp>
        <p:nvSpPr>
          <p:cNvPr id="15" name="Shape 11"/>
          <p:cNvSpPr/>
          <p:nvPr/>
        </p:nvSpPr>
        <p:spPr>
          <a:xfrm>
            <a:off x="6181344" y="1097280"/>
            <a:ext cx="2651760" cy="2880360"/>
          </a:xfrm>
          <a:prstGeom prst="roundRect">
            <a:avLst>
              <a:gd name="adj" fmla="val 3448"/>
            </a:avLst>
          </a:prstGeom>
          <a:solidFill>
            <a:srgbClr val="EFF4FE"/>
          </a:solidFill>
          <a:ln/>
          <a:effectLst>
            <a:outerShdw sx="100000" sy="100000" kx="0" ky="0" algn="bl" rotWithShape="0" blurRad="76200" dist="25400" dir="2700000">
              <a:srgbClr val="000000">
                <a:alpha val="14000"/>
              </a:srgbClr>
            </a:outerShdw>
          </a:effectLst>
        </p:spPr>
      </p:sp>
      <p:sp>
        <p:nvSpPr>
          <p:cNvPr id="16" name="Shape 12"/>
          <p:cNvSpPr/>
          <p:nvPr/>
        </p:nvSpPr>
        <p:spPr>
          <a:xfrm>
            <a:off x="7214616" y="1298448"/>
            <a:ext cx="585216" cy="585216"/>
          </a:xfrm>
          <a:prstGeom prst="ellipse">
            <a:avLst/>
          </a:prstGeom>
          <a:solidFill>
            <a:srgbClr val="FFFFFF"/>
          </a:solidFill>
          <a:ln/>
        </p:spPr>
      </p:sp>
      <p:pic>
        <p:nvPicPr>
          <p:cNvPr id="17" name="Image 2" descr="preencoded.png">    </p:cNvPr>
          <p:cNvPicPr>
            <a:picLocks noChangeAspect="1"/>
          </p:cNvPicPr>
          <p:nvPr/>
        </p:nvPicPr>
        <p:blipFill>
          <a:blip r:embed="rId3"/>
          <a:stretch>
            <a:fillRect/>
          </a:stretch>
        </p:blipFill>
        <p:spPr>
          <a:xfrm>
            <a:off x="7342632" y="1426464"/>
            <a:ext cx="329184" cy="329184"/>
          </a:xfrm>
          <a:prstGeom prst="rect">
            <a:avLst/>
          </a:prstGeom>
        </p:spPr>
      </p:pic>
      <p:sp>
        <p:nvSpPr>
          <p:cNvPr id="18" name="Text 13"/>
          <p:cNvSpPr/>
          <p:nvPr/>
        </p:nvSpPr>
        <p:spPr>
          <a:xfrm>
            <a:off x="6181344" y="1993392"/>
            <a:ext cx="2651760" cy="384048"/>
          </a:xfrm>
          <a:prstGeom prst="rect">
            <a:avLst/>
          </a:prstGeom>
          <a:noFill/>
          <a:ln/>
        </p:spPr>
        <p:txBody>
          <a:bodyPr wrap="square" lIns="0" tIns="0" rIns="0" bIns="0" rtlCol="0" anchor="ctr"/>
          <a:lstStyle/>
          <a:p>
            <a:pPr algn="ctr" indent="0" marL="0">
              <a:buNone/>
            </a:pPr>
            <a:r>
              <a:rPr lang="en-US" sz="1550" b="1" dirty="0">
                <a:solidFill>
                  <a:srgbClr val="1E2761"/>
                </a:solidFill>
                <a:latin typeface="Cambria" pitchFamily="34" charset="0"/>
                <a:ea typeface="Cambria" pitchFamily="34" charset="-122"/>
                <a:cs typeface="Cambria" pitchFamily="34" charset="-120"/>
              </a:rPr>
              <a:t>Local (kind / Hard)</a:t>
            </a:r>
            <a:endParaRPr lang="en-US" sz="1550" dirty="0"/>
          </a:p>
        </p:txBody>
      </p:sp>
      <p:sp>
        <p:nvSpPr>
          <p:cNvPr id="19" name="Text 14"/>
          <p:cNvSpPr/>
          <p:nvPr/>
        </p:nvSpPr>
        <p:spPr>
          <a:xfrm>
            <a:off x="6364224" y="2395728"/>
            <a:ext cx="2286000" cy="1051560"/>
          </a:xfrm>
          <a:prstGeom prst="rect">
            <a:avLst/>
          </a:prstGeom>
          <a:noFill/>
          <a:ln/>
        </p:spPr>
        <p:txBody>
          <a:bodyPr wrap="square" lIns="0" tIns="0" rIns="0" bIns="0" rtlCol="0" anchor="ctr"/>
          <a:lstStyle/>
          <a:p>
            <a:pPr algn="ctr" indent="0" marL="0">
              <a:buNone/>
            </a:pPr>
            <a:r>
              <a:rPr lang="en-US" sz="1080" dirty="0">
                <a:solidFill>
                  <a:srgbClr val="1A1F36"/>
                </a:solidFill>
                <a:latin typeface="Calibri" pitchFamily="34" charset="0"/>
                <a:ea typeface="Calibri" pitchFamily="34" charset="-122"/>
                <a:cs typeface="Calibri" pitchFamily="34" charset="-120"/>
              </a:rPr>
              <a:t>Your machine. Mac: scripts/setup-mac.sh (Colima-first). Hard = production-faithful, NOT compiled-from-source.</a:t>
            </a:r>
            <a:endParaRPr lang="en-US" sz="1080" dirty="0"/>
          </a:p>
        </p:txBody>
      </p:sp>
      <p:sp>
        <p:nvSpPr>
          <p:cNvPr id="20" name="Text 15"/>
          <p:cNvSpPr/>
          <p:nvPr/>
        </p:nvSpPr>
        <p:spPr>
          <a:xfrm>
            <a:off x="6364224" y="3474720"/>
            <a:ext cx="2286000" cy="411480"/>
          </a:xfrm>
          <a:prstGeom prst="rect">
            <a:avLst/>
          </a:prstGeom>
          <a:noFill/>
          <a:ln/>
        </p:spPr>
        <p:txBody>
          <a:bodyPr wrap="square" lIns="0" tIns="0" rIns="0" bIns="0" rtlCol="0" anchor="ctr"/>
          <a:lstStyle/>
          <a:p>
            <a:pPr algn="ctr" indent="0" marL="0">
              <a:buNone/>
            </a:pPr>
            <a:r>
              <a:rPr lang="en-US" sz="1000" i="1" dirty="0">
                <a:solidFill>
                  <a:srgbClr val="5B6478"/>
                </a:solidFill>
                <a:latin typeface="Calibri" pitchFamily="34" charset="0"/>
                <a:ea typeface="Calibri" pitchFamily="34" charset="-122"/>
                <a:cs typeface="Calibri" pitchFamily="34" charset="-120"/>
              </a:rPr>
              <a:t>macOS via Colima · Linux best for ⭐⭐</a:t>
            </a:r>
            <a:endParaRPr lang="en-US" sz="1000" dirty="0"/>
          </a:p>
        </p:txBody>
      </p:sp>
      <p:sp>
        <p:nvSpPr>
          <p:cNvPr id="21" name="Shape 16"/>
          <p:cNvSpPr/>
          <p:nvPr/>
        </p:nvSpPr>
        <p:spPr>
          <a:xfrm>
            <a:off x="457200" y="4160520"/>
            <a:ext cx="8266176" cy="566928"/>
          </a:xfrm>
          <a:prstGeom prst="roundRect">
            <a:avLst>
              <a:gd name="adj" fmla="val 12903"/>
            </a:avLst>
          </a:prstGeom>
          <a:solidFill>
            <a:srgbClr val="1E2761"/>
          </a:solidFill>
          <a:ln/>
        </p:spPr>
      </p:sp>
      <p:sp>
        <p:nvSpPr>
          <p:cNvPr id="22" name="Text 17"/>
          <p:cNvSpPr/>
          <p:nvPr/>
        </p:nvSpPr>
        <p:spPr>
          <a:xfrm>
            <a:off x="731520" y="4160520"/>
            <a:ext cx="7772400" cy="566928"/>
          </a:xfrm>
          <a:prstGeom prst="rect">
            <a:avLst/>
          </a:prstGeom>
          <a:noFill/>
          <a:ln/>
        </p:spPr>
        <p:txBody>
          <a:bodyPr wrap="square" lIns="0" tIns="0" rIns="0" bIns="0" rtlCol="0" anchor="ctr"/>
          <a:lstStyle/>
          <a:p>
            <a:pPr indent="0" marL="0">
              <a:buNone/>
            </a:pPr>
            <a:r>
              <a:rPr lang="en-US" sz="1250" dirty="0">
                <a:solidFill>
                  <a:srgbClr val="CADCFC"/>
                </a:solidFill>
                <a:latin typeface="Calibri" pitchFamily="34" charset="0"/>
                <a:ea typeface="Calibri" pitchFamily="34" charset="-122"/>
                <a:cs typeface="Calibri" pitchFamily="34" charset="-120"/>
              </a:rPr>
              <a:t>One command, any tier:  </a:t>
            </a:r>
            <a:pPr indent="0" marL="0">
              <a:buNone/>
            </a:pPr>
            <a:r>
              <a:rPr lang="en-US" sz="1250" b="1" dirty="0">
                <a:solidFill>
                  <a:srgbClr val="2EC4B6"/>
                </a:solidFill>
                <a:latin typeface="Courier New" pitchFamily="34" charset="0"/>
                <a:ea typeface="Courier New" pitchFamily="34" charset="-122"/>
                <a:cs typeface="Courier New" pitchFamily="34" charset="-120"/>
              </a:rPr>
              <a:t>./scripts/5-spot-bootstrap.sh --env-tier &lt;killercoda|codespaces|kind|hard&gt;</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640080"/>
          </a:xfrm>
          <a:prstGeom prst="rect">
            <a:avLst/>
          </a:prstGeom>
          <a:noFill/>
          <a:ln/>
        </p:spPr>
        <p:txBody>
          <a:bodyPr wrap="square" lIns="0" tIns="0" rIns="0" bIns="0" rtlCol="0" anchor="ctr"/>
          <a:lstStyle/>
          <a:p>
            <a:pPr indent="0" marL="0">
              <a:buNone/>
            </a:pPr>
            <a:r>
              <a:rPr lang="en-US" sz="3000" b="1" dirty="0">
                <a:solidFill>
                  <a:srgbClr val="1A1F36"/>
                </a:solidFill>
                <a:latin typeface="Cambria" pitchFamily="34" charset="0"/>
                <a:ea typeface="Cambria" pitchFamily="34" charset="-122"/>
                <a:cs typeface="Cambria" pitchFamily="34" charset="-120"/>
              </a:rPr>
              <a:t>Five flags between you and glory</a:t>
            </a:r>
            <a:endParaRPr lang="en-US" sz="3000" dirty="0"/>
          </a:p>
        </p:txBody>
      </p:sp>
      <p:sp>
        <p:nvSpPr>
          <p:cNvPr id="3" name="Shape 1"/>
          <p:cNvSpPr/>
          <p:nvPr/>
        </p:nvSpPr>
        <p:spPr>
          <a:xfrm>
            <a:off x="457200" y="1051560"/>
            <a:ext cx="8266176" cy="603504"/>
          </a:xfrm>
          <a:prstGeom prst="roundRect">
            <a:avLst>
              <a:gd name="adj" fmla="val 12121"/>
            </a:avLst>
          </a:prstGeom>
          <a:solidFill>
            <a:srgbClr val="EFF4FE"/>
          </a:solidFill>
          <a:ln/>
        </p:spPr>
      </p:sp>
      <p:sp>
        <p:nvSpPr>
          <p:cNvPr id="4" name="Shape 2"/>
          <p:cNvSpPr/>
          <p:nvPr/>
        </p:nvSpPr>
        <p:spPr>
          <a:xfrm>
            <a:off x="621792" y="1124712"/>
            <a:ext cx="457200" cy="457200"/>
          </a:xfrm>
          <a:prstGeom prst="ellipse">
            <a:avLst/>
          </a:prstGeom>
          <a:solidFill>
            <a:srgbClr val="2EC4B6"/>
          </a:solidFill>
          <a:ln/>
        </p:spPr>
      </p:sp>
      <p:sp>
        <p:nvSpPr>
          <p:cNvPr id="5" name="Text 3"/>
          <p:cNvSpPr/>
          <p:nvPr/>
        </p:nvSpPr>
        <p:spPr>
          <a:xfrm>
            <a:off x="621792" y="112471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6" name="Text 4"/>
          <p:cNvSpPr/>
          <p:nvPr/>
        </p:nvSpPr>
        <p:spPr>
          <a:xfrm>
            <a:off x="1234440" y="1051560"/>
            <a:ext cx="7315200" cy="603504"/>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Open the window   </a:t>
            </a:r>
            <a:pPr indent="0" marL="0">
              <a:buNone/>
            </a:pPr>
            <a:r>
              <a:rPr lang="en-US" sz="1250" dirty="0">
                <a:solidFill>
                  <a:srgbClr val="1A1F36"/>
                </a:solidFill>
                <a:latin typeface="Calibri" pitchFamily="34" charset="0"/>
                <a:ea typeface="Calibri" pitchFamily="34" charset="-122"/>
                <a:cs typeface="Calibri" pitchFamily="34" charset="-120"/>
              </a:rPr>
              <a:t>worker joins the cluster and goes Ready</a:t>
            </a:r>
            <a:endParaRPr lang="en-US" sz="1400" dirty="0"/>
          </a:p>
        </p:txBody>
      </p:sp>
      <p:sp>
        <p:nvSpPr>
          <p:cNvPr id="7" name="Shape 5"/>
          <p:cNvSpPr/>
          <p:nvPr/>
        </p:nvSpPr>
        <p:spPr>
          <a:xfrm>
            <a:off x="457200" y="1764792"/>
            <a:ext cx="8266176" cy="603504"/>
          </a:xfrm>
          <a:prstGeom prst="roundRect">
            <a:avLst>
              <a:gd name="adj" fmla="val 12121"/>
            </a:avLst>
          </a:prstGeom>
          <a:solidFill>
            <a:srgbClr val="EFF4FE"/>
          </a:solidFill>
          <a:ln/>
        </p:spPr>
      </p:sp>
      <p:sp>
        <p:nvSpPr>
          <p:cNvPr id="8" name="Shape 6"/>
          <p:cNvSpPr/>
          <p:nvPr/>
        </p:nvSpPr>
        <p:spPr>
          <a:xfrm>
            <a:off x="621792" y="1837944"/>
            <a:ext cx="457200" cy="457200"/>
          </a:xfrm>
          <a:prstGeom prst="ellipse">
            <a:avLst/>
          </a:prstGeom>
          <a:solidFill>
            <a:srgbClr val="2EC4B6"/>
          </a:solidFill>
          <a:ln/>
        </p:spPr>
      </p:sp>
      <p:sp>
        <p:nvSpPr>
          <p:cNvPr id="9" name="Text 7"/>
          <p:cNvSpPr/>
          <p:nvPr/>
        </p:nvSpPr>
        <p:spPr>
          <a:xfrm>
            <a:off x="621792" y="183794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0" name="Text 8"/>
          <p:cNvSpPr/>
          <p:nvPr/>
        </p:nvSpPr>
        <p:spPr>
          <a:xfrm>
            <a:off x="1234440" y="1764792"/>
            <a:ext cx="7315200" cy="603504"/>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Stay compliant   </a:t>
            </a:r>
            <a:pPr indent="0" marL="0">
              <a:buNone/>
            </a:pPr>
            <a:r>
              <a:rPr lang="en-US" sz="1250" dirty="0">
                <a:solidFill>
                  <a:srgbClr val="1A1F36"/>
                </a:solidFill>
                <a:latin typeface="Calibri" pitchFamily="34" charset="0"/>
                <a:ea typeface="Calibri" pitchFamily="34" charset="-122"/>
                <a:cs typeface="Calibri" pitchFamily="34" charset="-120"/>
              </a:rPr>
              <a:t>only taint-tolerating workloads ride spot capacity</a:t>
            </a:r>
            <a:endParaRPr lang="en-US" sz="1400" dirty="0"/>
          </a:p>
        </p:txBody>
      </p:sp>
      <p:sp>
        <p:nvSpPr>
          <p:cNvPr id="11" name="Shape 9"/>
          <p:cNvSpPr/>
          <p:nvPr/>
        </p:nvSpPr>
        <p:spPr>
          <a:xfrm>
            <a:off x="457200" y="2478024"/>
            <a:ext cx="8266176" cy="603504"/>
          </a:xfrm>
          <a:prstGeom prst="roundRect">
            <a:avLst>
              <a:gd name="adj" fmla="val 12121"/>
            </a:avLst>
          </a:prstGeom>
          <a:solidFill>
            <a:srgbClr val="EFF4FE"/>
          </a:solidFill>
          <a:ln/>
        </p:spPr>
      </p:sp>
      <p:sp>
        <p:nvSpPr>
          <p:cNvPr id="12" name="Shape 10"/>
          <p:cNvSpPr/>
          <p:nvPr/>
        </p:nvSpPr>
        <p:spPr>
          <a:xfrm>
            <a:off x="621792" y="2551176"/>
            <a:ext cx="457200" cy="457200"/>
          </a:xfrm>
          <a:prstGeom prst="ellipse">
            <a:avLst/>
          </a:prstGeom>
          <a:solidFill>
            <a:srgbClr val="2EC4B6"/>
          </a:solidFill>
          <a:ln/>
        </p:spPr>
      </p:sp>
      <p:sp>
        <p:nvSpPr>
          <p:cNvPr id="13" name="Text 11"/>
          <p:cNvSpPr/>
          <p:nvPr/>
        </p:nvSpPr>
        <p:spPr>
          <a:xfrm>
            <a:off x="621792" y="255117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4" name="Text 12"/>
          <p:cNvSpPr/>
          <p:nvPr/>
        </p:nvSpPr>
        <p:spPr>
          <a:xfrm>
            <a:off x="1234440" y="2478024"/>
            <a:ext cx="7315200" cy="603504"/>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Survive the drain   </a:t>
            </a:r>
            <a:pPr indent="0" marL="0">
              <a:buNone/>
            </a:pPr>
            <a:r>
              <a:rPr lang="en-US" sz="1250" dirty="0">
                <a:solidFill>
                  <a:srgbClr val="1A1F36"/>
                </a:solidFill>
                <a:latin typeface="Calibri" pitchFamily="34" charset="0"/>
                <a:ea typeface="Calibri" pitchFamily="34" charset="-122"/>
                <a:cs typeface="Calibri" pitchFamily="34" charset="-120"/>
              </a:rPr>
              <a:t>graceful cordon → drain → delete, phase Inactive</a:t>
            </a:r>
            <a:endParaRPr lang="en-US" sz="1400" dirty="0"/>
          </a:p>
        </p:txBody>
      </p:sp>
      <p:sp>
        <p:nvSpPr>
          <p:cNvPr id="15" name="Shape 13"/>
          <p:cNvSpPr/>
          <p:nvPr/>
        </p:nvSpPr>
        <p:spPr>
          <a:xfrm>
            <a:off x="457200" y="3191256"/>
            <a:ext cx="8266176" cy="603504"/>
          </a:xfrm>
          <a:prstGeom prst="roundRect">
            <a:avLst>
              <a:gd name="adj" fmla="val 12121"/>
            </a:avLst>
          </a:prstGeom>
          <a:solidFill>
            <a:srgbClr val="E8EBF7"/>
          </a:solidFill>
          <a:ln/>
        </p:spPr>
      </p:sp>
      <p:sp>
        <p:nvSpPr>
          <p:cNvPr id="16" name="Shape 14"/>
          <p:cNvSpPr/>
          <p:nvPr/>
        </p:nvSpPr>
        <p:spPr>
          <a:xfrm>
            <a:off x="621792" y="3264408"/>
            <a:ext cx="457200" cy="457200"/>
          </a:xfrm>
          <a:prstGeom prst="ellipse">
            <a:avLst/>
          </a:prstGeom>
          <a:solidFill>
            <a:srgbClr val="1E2761"/>
          </a:solidFill>
          <a:ln/>
        </p:spPr>
      </p:sp>
      <p:sp>
        <p:nvSpPr>
          <p:cNvPr id="17" name="Text 15"/>
          <p:cNvSpPr/>
          <p:nvPr/>
        </p:nvSpPr>
        <p:spPr>
          <a:xfrm>
            <a:off x="621792" y="326440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a:t>
            </a:r>
            <a:endParaRPr lang="en-US" sz="1600" dirty="0"/>
          </a:p>
        </p:txBody>
      </p:sp>
      <p:sp>
        <p:nvSpPr>
          <p:cNvPr id="18" name="Text 16"/>
          <p:cNvSpPr/>
          <p:nvPr/>
        </p:nvSpPr>
        <p:spPr>
          <a:xfrm>
            <a:off x="1234440" y="3191256"/>
            <a:ext cx="7315200" cy="603504"/>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GitOps with Flux   </a:t>
            </a:r>
            <a:pPr indent="0" marL="0">
              <a:buNone/>
            </a:pPr>
            <a:r>
              <a:rPr lang="en-US" sz="1250" dirty="0">
                <a:solidFill>
                  <a:srgbClr val="1A1F36"/>
                </a:solidFill>
                <a:latin typeface="Calibri" pitchFamily="34" charset="0"/>
                <a:ea typeface="Calibri" pitchFamily="34" charset="-122"/>
                <a:cs typeface="Calibri" pitchFamily="34" charset="-120"/>
              </a:rPr>
              <a:t>schedule reconciled from Git, not kubectl</a:t>
            </a:r>
            <a:endParaRPr lang="en-US" sz="1400" dirty="0"/>
          </a:p>
        </p:txBody>
      </p:sp>
      <p:sp>
        <p:nvSpPr>
          <p:cNvPr id="19" name="Shape 17"/>
          <p:cNvSpPr/>
          <p:nvPr/>
        </p:nvSpPr>
        <p:spPr>
          <a:xfrm>
            <a:off x="457200" y="3904488"/>
            <a:ext cx="8266176" cy="603504"/>
          </a:xfrm>
          <a:prstGeom prst="roundRect">
            <a:avLst>
              <a:gd name="adj" fmla="val 12121"/>
            </a:avLst>
          </a:prstGeom>
          <a:solidFill>
            <a:srgbClr val="E8EBF7"/>
          </a:solidFill>
          <a:ln/>
        </p:spPr>
      </p:sp>
      <p:sp>
        <p:nvSpPr>
          <p:cNvPr id="20" name="Shape 18"/>
          <p:cNvSpPr/>
          <p:nvPr/>
        </p:nvSpPr>
        <p:spPr>
          <a:xfrm>
            <a:off x="621792" y="3977640"/>
            <a:ext cx="457200" cy="457200"/>
          </a:xfrm>
          <a:prstGeom prst="ellipse">
            <a:avLst/>
          </a:prstGeom>
          <a:solidFill>
            <a:srgbClr val="1E2761"/>
          </a:solidFill>
          <a:ln/>
        </p:spPr>
      </p:sp>
      <p:sp>
        <p:nvSpPr>
          <p:cNvPr id="21" name="Text 19"/>
          <p:cNvSpPr/>
          <p:nvPr/>
        </p:nvSpPr>
        <p:spPr>
          <a:xfrm>
            <a:off x="621792" y="3977640"/>
            <a:ext cx="457200" cy="457200"/>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a:t>
            </a:r>
            <a:endParaRPr lang="en-US" sz="1100" dirty="0"/>
          </a:p>
        </p:txBody>
      </p:sp>
      <p:sp>
        <p:nvSpPr>
          <p:cNvPr id="22" name="Text 20"/>
          <p:cNvSpPr/>
          <p:nvPr/>
        </p:nvSpPr>
        <p:spPr>
          <a:xfrm>
            <a:off x="1234440" y="3904488"/>
            <a:ext cx="7315200" cy="603504"/>
          </a:xfrm>
          <a:prstGeom prst="rect">
            <a:avLst/>
          </a:prstGeom>
          <a:noFill/>
          <a:ln/>
        </p:spPr>
        <p:txBody>
          <a:bodyPr wrap="square" lIns="0" tIns="0" rIns="0" bIns="0" rtlCol="0" anchor="ctr"/>
          <a:lstStyle/>
          <a:p>
            <a:pPr indent="0" marL="0">
              <a:buNone/>
            </a:pPr>
            <a:r>
              <a:rPr lang="en-US" sz="1400" b="1" dirty="0">
                <a:solidFill>
                  <a:srgbClr val="1E2761"/>
                </a:solidFill>
                <a:latin typeface="Calibri" pitchFamily="34" charset="0"/>
                <a:ea typeface="Calibri" pitchFamily="34" charset="-122"/>
                <a:cs typeface="Calibri" pitchFamily="34" charset="-120"/>
              </a:rPr>
              <a:t>Confidential Containers   </a:t>
            </a:r>
            <a:pPr indent="0" marL="0">
              <a:buNone/>
            </a:pPr>
            <a:r>
              <a:rPr lang="en-US" sz="1250" dirty="0">
                <a:solidFill>
                  <a:srgbClr val="1A1F36"/>
                </a:solidFill>
                <a:latin typeface="Calibri" pitchFamily="34" charset="0"/>
                <a:ea typeface="Calibri" pitchFamily="34" charset="-122"/>
                <a:cs typeface="Calibri" pitchFamily="34" charset="-120"/>
              </a:rPr>
              <a:t>sensitive workload in a TEE on the spot node (k0smotron track, /dev/kvm)</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640080"/>
          </a:xfrm>
          <a:prstGeom prst="rect">
            <a:avLst/>
          </a:prstGeom>
          <a:noFill/>
          <a:ln/>
        </p:spPr>
        <p:txBody>
          <a:bodyPr wrap="square" lIns="0" tIns="0" rIns="0" bIns="0" rtlCol="0" anchor="ctr"/>
          <a:lstStyle/>
          <a:p>
            <a:pPr indent="0" marL="0">
              <a:buNone/>
            </a:pPr>
            <a:r>
              <a:rPr lang="en-US" sz="3000" b="1" dirty="0">
                <a:solidFill>
                  <a:srgbClr val="1A1F36"/>
                </a:solidFill>
                <a:latin typeface="Cambria" pitchFamily="34" charset="0"/>
                <a:ea typeface="Cambria" pitchFamily="34" charset="-122"/>
                <a:cs typeface="Cambria" pitchFamily="34" charset="-120"/>
              </a:rPr>
              <a:t>Flag 1 — open the window</a:t>
            </a:r>
            <a:endParaRPr lang="en-US" sz="3000" dirty="0"/>
          </a:p>
        </p:txBody>
      </p:sp>
      <p:sp>
        <p:nvSpPr>
          <p:cNvPr id="3" name="Text 1"/>
          <p:cNvSpPr/>
          <p:nvPr/>
        </p:nvSpPr>
        <p:spPr>
          <a:xfrm>
            <a:off x="457200" y="868680"/>
            <a:ext cx="8229600" cy="365760"/>
          </a:xfrm>
          <a:prstGeom prst="rect">
            <a:avLst/>
          </a:prstGeom>
          <a:noFill/>
          <a:ln/>
        </p:spPr>
        <p:txBody>
          <a:bodyPr wrap="square" lIns="0" tIns="0" rIns="0" bIns="0" rtlCol="0" anchor="ctr"/>
          <a:lstStyle/>
          <a:p>
            <a:pPr indent="0" marL="0">
              <a:buNone/>
            </a:pPr>
            <a:r>
              <a:rPr lang="en-US" sz="1400" dirty="0">
                <a:solidFill>
                  <a:srgbClr val="5B6478"/>
                </a:solidFill>
                <a:latin typeface="Calibri" pitchFamily="34" charset="0"/>
                <a:ea typeface="Calibri" pitchFamily="34" charset="-122"/>
                <a:cs typeface="Calibri" pitchFamily="34" charset="-120"/>
              </a:rPr>
              <a:t>Apply one ScheduledMachine. Watch 5-Spot expand it and a worker join on schedule.</a:t>
            </a:r>
            <a:endParaRPr lang="en-US" sz="1400" dirty="0"/>
          </a:p>
        </p:txBody>
      </p:sp>
      <p:sp>
        <p:nvSpPr>
          <p:cNvPr id="4" name="Shape 2"/>
          <p:cNvSpPr/>
          <p:nvPr/>
        </p:nvSpPr>
        <p:spPr>
          <a:xfrm>
            <a:off x="457200" y="1417320"/>
            <a:ext cx="8266176" cy="548640"/>
          </a:xfrm>
          <a:prstGeom prst="roundRect">
            <a:avLst>
              <a:gd name="adj" fmla="val 10000"/>
            </a:avLst>
          </a:prstGeom>
          <a:solidFill>
            <a:srgbClr val="1E2761"/>
          </a:solidFill>
          <a:ln/>
          <a:effectLst>
            <a:outerShdw sx="100000" sy="100000" kx="0" ky="0" algn="bl" rotWithShape="0" blurRad="76200" dist="25400" dir="2700000">
              <a:srgbClr val="000000">
                <a:alpha val="14000"/>
              </a:srgbClr>
            </a:outerShdw>
          </a:effectLst>
        </p:spPr>
      </p:sp>
      <p:sp>
        <p:nvSpPr>
          <p:cNvPr id="5" name="Text 3"/>
          <p:cNvSpPr/>
          <p:nvPr/>
        </p:nvSpPr>
        <p:spPr>
          <a:xfrm>
            <a:off x="594360" y="1417320"/>
            <a:ext cx="7991856" cy="548640"/>
          </a:xfrm>
          <a:prstGeom prst="rect">
            <a:avLst/>
          </a:prstGeom>
          <a:noFill/>
          <a:ln/>
        </p:spPr>
        <p:txBody>
          <a:bodyPr wrap="square" lIns="0" tIns="0" rIns="0" bIns="0" rtlCol="0" anchor="ctr"/>
          <a:lstStyle/>
          <a:p>
            <a:pPr indent="0" marL="0">
              <a:buNone/>
            </a:pPr>
            <a:r>
              <a:rPr lang="en-US" sz="1250" dirty="0">
                <a:solidFill>
                  <a:srgbClr val="CADCFC"/>
                </a:solidFill>
                <a:latin typeface="Courier New" pitchFamily="34" charset="0"/>
                <a:ea typeface="Courier New" pitchFamily="34" charset="-122"/>
                <a:cs typeface="Courier New" pitchFamily="34" charset="-120"/>
              </a:rPr>
              <a:t>kubectl --context kind-5spot-mgmt apply -f scheduledmachine-*.yaml</a:t>
            </a:r>
            <a:endParaRPr lang="en-US" sz="1250" dirty="0"/>
          </a:p>
        </p:txBody>
      </p:sp>
      <p:sp>
        <p:nvSpPr>
          <p:cNvPr id="6" name="Shape 4"/>
          <p:cNvSpPr/>
          <p:nvPr/>
        </p:nvSpPr>
        <p:spPr>
          <a:xfrm>
            <a:off x="457200" y="2103120"/>
            <a:ext cx="8266176" cy="548640"/>
          </a:xfrm>
          <a:prstGeom prst="roundRect">
            <a:avLst>
              <a:gd name="adj" fmla="val 10000"/>
            </a:avLst>
          </a:prstGeom>
          <a:solidFill>
            <a:srgbClr val="1E2761"/>
          </a:solidFill>
          <a:ln/>
          <a:effectLst>
            <a:outerShdw sx="100000" sy="100000" kx="0" ky="0" algn="bl" rotWithShape="0" blurRad="76200" dist="25400" dir="2700000">
              <a:srgbClr val="000000">
                <a:alpha val="14000"/>
              </a:srgbClr>
            </a:outerShdw>
          </a:effectLst>
        </p:spPr>
      </p:sp>
      <p:sp>
        <p:nvSpPr>
          <p:cNvPr id="7" name="Text 5"/>
          <p:cNvSpPr/>
          <p:nvPr/>
        </p:nvSpPr>
        <p:spPr>
          <a:xfrm>
            <a:off x="594360" y="2103120"/>
            <a:ext cx="7991856" cy="548640"/>
          </a:xfrm>
          <a:prstGeom prst="rect">
            <a:avLst/>
          </a:prstGeom>
          <a:noFill/>
          <a:ln/>
        </p:spPr>
        <p:txBody>
          <a:bodyPr wrap="square" lIns="0" tIns="0" rIns="0" bIns="0" rtlCol="0" anchor="ctr"/>
          <a:lstStyle/>
          <a:p>
            <a:pPr indent="0" marL="0">
              <a:buNone/>
            </a:pPr>
            <a:r>
              <a:rPr lang="en-US" sz="1250" dirty="0">
                <a:solidFill>
                  <a:srgbClr val="CADCFC"/>
                </a:solidFill>
                <a:latin typeface="Courier New" pitchFamily="34" charset="0"/>
                <a:ea typeface="Courier New" pitchFamily="34" charset="-122"/>
                <a:cs typeface="Courier New" pitchFamily="34" charset="-120"/>
              </a:rPr>
              <a:t>kubectl get k0sworkerconfig,remotemachine,machine -l 5spot.finos.org/scheduled-machine=business-hours-worker</a:t>
            </a:r>
            <a:endParaRPr lang="en-US" sz="1250" dirty="0"/>
          </a:p>
        </p:txBody>
      </p:sp>
      <p:sp>
        <p:nvSpPr>
          <p:cNvPr id="8" name="Shape 6"/>
          <p:cNvSpPr/>
          <p:nvPr/>
        </p:nvSpPr>
        <p:spPr>
          <a:xfrm>
            <a:off x="457200" y="2788920"/>
            <a:ext cx="8266176" cy="548640"/>
          </a:xfrm>
          <a:prstGeom prst="roundRect">
            <a:avLst>
              <a:gd name="adj" fmla="val 10000"/>
            </a:avLst>
          </a:prstGeom>
          <a:solidFill>
            <a:srgbClr val="1E2761"/>
          </a:solidFill>
          <a:ln/>
          <a:effectLst>
            <a:outerShdw sx="100000" sy="100000" kx="0" ky="0" algn="bl" rotWithShape="0" blurRad="76200" dist="25400" dir="2700000">
              <a:srgbClr val="000000">
                <a:alpha val="14000"/>
              </a:srgbClr>
            </a:outerShdw>
          </a:effectLst>
        </p:spPr>
      </p:sp>
      <p:sp>
        <p:nvSpPr>
          <p:cNvPr id="9" name="Text 7"/>
          <p:cNvSpPr/>
          <p:nvPr/>
        </p:nvSpPr>
        <p:spPr>
          <a:xfrm>
            <a:off x="594360" y="2788920"/>
            <a:ext cx="7991856" cy="548640"/>
          </a:xfrm>
          <a:prstGeom prst="rect">
            <a:avLst/>
          </a:prstGeom>
          <a:noFill/>
          <a:ln/>
        </p:spPr>
        <p:txBody>
          <a:bodyPr wrap="square" lIns="0" tIns="0" rIns="0" bIns="0" rtlCol="0" anchor="ctr"/>
          <a:lstStyle/>
          <a:p>
            <a:pPr indent="0" marL="0">
              <a:buNone/>
            </a:pPr>
            <a:r>
              <a:rPr lang="en-US" sz="1250" dirty="0">
                <a:solidFill>
                  <a:srgbClr val="CADCFC"/>
                </a:solidFill>
                <a:latin typeface="Courier New" pitchFamily="34" charset="0"/>
                <a:ea typeface="Courier New" pitchFamily="34" charset="-122"/>
                <a:cs typeface="Courier New" pitchFamily="34" charset="-120"/>
              </a:rPr>
              <a:t>kubectl --kubeconfig dev-cluster.kubeconfig get nodes -w        # Ctrl-C when Ready</a:t>
            </a:r>
            <a:endParaRPr lang="en-US" sz="1250" dirty="0"/>
          </a:p>
        </p:txBody>
      </p:sp>
      <p:sp>
        <p:nvSpPr>
          <p:cNvPr id="10" name="Shape 8"/>
          <p:cNvSpPr/>
          <p:nvPr/>
        </p:nvSpPr>
        <p:spPr>
          <a:xfrm>
            <a:off x="457200" y="3611880"/>
            <a:ext cx="8266176" cy="960120"/>
          </a:xfrm>
          <a:prstGeom prst="roundRect">
            <a:avLst>
              <a:gd name="adj" fmla="val 7619"/>
            </a:avLst>
          </a:prstGeom>
          <a:solidFill>
            <a:srgbClr val="EFF4FE"/>
          </a:solidFill>
          <a:ln/>
        </p:spPr>
      </p:sp>
      <p:sp>
        <p:nvSpPr>
          <p:cNvPr id="11" name="Text 9"/>
          <p:cNvSpPr/>
          <p:nvPr/>
        </p:nvSpPr>
        <p:spPr>
          <a:xfrm>
            <a:off x="731520" y="3611880"/>
            <a:ext cx="7772400" cy="96012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What you're proving:  </a:t>
            </a:r>
            <a:pPr indent="0" marL="0">
              <a:buNone/>
            </a:pPr>
            <a:r>
              <a:rPr lang="en-US" sz="1300" dirty="0">
                <a:solidFill>
                  <a:srgbClr val="1A1F36"/>
                </a:solidFill>
                <a:latin typeface="Calibri" pitchFamily="34" charset="0"/>
                <a:ea typeface="Calibri" pitchFamily="34" charset="-122"/>
                <a:cs typeface="Calibri" pitchFamily="34" charset="-120"/>
              </a:rPr>
              <a:t>the schedule engine works end-to-end — one CRD became three CAPI objects and a real node, on a timer. Workshop manifests ship always-on (mon-sun 0-23) so you don't wait for 9am.</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640080"/>
          </a:xfrm>
          <a:prstGeom prst="rect">
            <a:avLst/>
          </a:prstGeom>
          <a:noFill/>
          <a:ln/>
        </p:spPr>
        <p:txBody>
          <a:bodyPr wrap="square" lIns="0" tIns="0" rIns="0" bIns="0" rtlCol="0" anchor="ctr"/>
          <a:lstStyle/>
          <a:p>
            <a:pPr indent="0" marL="0">
              <a:buNone/>
            </a:pPr>
            <a:r>
              <a:rPr lang="en-US" sz="3000" b="1" dirty="0">
                <a:solidFill>
                  <a:srgbClr val="1A1F36"/>
                </a:solidFill>
                <a:latin typeface="Cambria" pitchFamily="34" charset="0"/>
                <a:ea typeface="Cambria" pitchFamily="34" charset="-122"/>
                <a:cs typeface="Cambria" pitchFamily="34" charset="-120"/>
              </a:rPr>
              <a:t>Flag 2 — stay compliant on reclaimable capacity</a:t>
            </a:r>
            <a:endParaRPr lang="en-US" sz="3000" dirty="0"/>
          </a:p>
        </p:txBody>
      </p:sp>
      <p:sp>
        <p:nvSpPr>
          <p:cNvPr id="3" name="Text 1"/>
          <p:cNvSpPr/>
          <p:nvPr/>
        </p:nvSpPr>
        <p:spPr>
          <a:xfrm>
            <a:off x="457200" y="868680"/>
            <a:ext cx="8229600" cy="365760"/>
          </a:xfrm>
          <a:prstGeom prst="rect">
            <a:avLst/>
          </a:prstGeom>
          <a:noFill/>
          <a:ln/>
        </p:spPr>
        <p:txBody>
          <a:bodyPr wrap="square" lIns="0" tIns="0" rIns="0" bIns="0" rtlCol="0" anchor="ctr"/>
          <a:lstStyle/>
          <a:p>
            <a:pPr indent="0" marL="0">
              <a:buNone/>
            </a:pPr>
            <a:r>
              <a:rPr lang="en-US" sz="1400" dirty="0">
                <a:solidFill>
                  <a:srgbClr val="5B6478"/>
                </a:solidFill>
                <a:latin typeface="Calibri" pitchFamily="34" charset="0"/>
                <a:ea typeface="Calibri" pitchFamily="34" charset="-122"/>
                <a:cs typeface="Calibri" pitchFamily="34" charset="-120"/>
              </a:rPr>
              <a:t>5-Spot taints scheduled nodes. Prove the guard works, then deploy a workload that's allowed in.</a:t>
            </a:r>
            <a:endParaRPr lang="en-US" sz="1400" dirty="0"/>
          </a:p>
        </p:txBody>
      </p:sp>
      <p:sp>
        <p:nvSpPr>
          <p:cNvPr id="4" name="Shape 2"/>
          <p:cNvSpPr/>
          <p:nvPr/>
        </p:nvSpPr>
        <p:spPr>
          <a:xfrm>
            <a:off x="457200" y="1417320"/>
            <a:ext cx="4023360" cy="2011680"/>
          </a:xfrm>
          <a:prstGeom prst="roundRect">
            <a:avLst>
              <a:gd name="adj" fmla="val 4545"/>
            </a:avLst>
          </a:prstGeom>
          <a:solidFill>
            <a:srgbClr val="FCEFE3"/>
          </a:solidFill>
          <a:ln/>
        </p:spPr>
      </p:sp>
      <p:sp>
        <p:nvSpPr>
          <p:cNvPr id="5" name="Text 3"/>
          <p:cNvSpPr/>
          <p:nvPr/>
        </p:nvSpPr>
        <p:spPr>
          <a:xfrm>
            <a:off x="685800" y="1554480"/>
            <a:ext cx="3566160" cy="365760"/>
          </a:xfrm>
          <a:prstGeom prst="rect">
            <a:avLst/>
          </a:prstGeom>
          <a:noFill/>
          <a:ln/>
        </p:spPr>
        <p:txBody>
          <a:bodyPr wrap="square" lIns="0" tIns="0" rIns="0" bIns="0" rtlCol="0" anchor="ctr"/>
          <a:lstStyle/>
          <a:p>
            <a:pPr indent="0" marL="0">
              <a:buNone/>
            </a:pPr>
            <a:r>
              <a:rPr lang="en-US" sz="1500" b="1" dirty="0">
                <a:solidFill>
                  <a:srgbClr val="9A5B13"/>
                </a:solidFill>
                <a:latin typeface="Cambria" pitchFamily="34" charset="0"/>
                <a:ea typeface="Cambria" pitchFamily="34" charset="-122"/>
                <a:cs typeface="Cambria" pitchFamily="34" charset="-120"/>
              </a:rPr>
              <a:t>No toleration</a:t>
            </a:r>
            <a:endParaRPr lang="en-US" sz="1500" dirty="0"/>
          </a:p>
        </p:txBody>
      </p:sp>
      <p:sp>
        <p:nvSpPr>
          <p:cNvPr id="6" name="Text 4"/>
          <p:cNvSpPr/>
          <p:nvPr/>
        </p:nvSpPr>
        <p:spPr>
          <a:xfrm>
            <a:off x="685800" y="1965960"/>
            <a:ext cx="3566160" cy="1280160"/>
          </a:xfrm>
          <a:prstGeom prst="rect">
            <a:avLst/>
          </a:prstGeom>
          <a:noFill/>
          <a:ln/>
        </p:spPr>
        <p:txBody>
          <a:bodyPr wrap="square" lIns="0" tIns="0" rIns="0" bIns="0" rtlCol="0" anchor="ctr"/>
          <a:lstStyle/>
          <a:p>
            <a:pPr indent="0" marL="0">
              <a:buNone/>
            </a:pPr>
            <a:r>
              <a:rPr lang="en-US" sz="1150" dirty="0">
                <a:solidFill>
                  <a:srgbClr val="1A1F36"/>
                </a:solidFill>
                <a:latin typeface="Courier New" pitchFamily="34" charset="0"/>
                <a:ea typeface="Courier New" pitchFamily="34" charset="-122"/>
                <a:cs typeface="Courier New" pitchFamily="34" charset="-120"/>
              </a:rPr>
              <a:t>kubectl run picky --image=pause</a:t>
            </a:r>
            <a:endParaRPr lang="en-US" sz="1150" dirty="0"/>
          </a:p>
          <a:p>
            <a:pPr indent="0" marL="0">
              <a:buNone/>
            </a:pPr>
            <a:r>
              <a:rPr lang="en-US" sz="1150" dirty="0">
                <a:solidFill>
                  <a:srgbClr val="1A1F36"/>
                </a:solidFill>
                <a:latin typeface="Courier New" pitchFamily="34" charset="0"/>
                <a:ea typeface="Courier New" pitchFamily="34" charset="-122"/>
                <a:cs typeface="Courier New" pitchFamily="34" charset="-120"/>
              </a:rPr>
              <a:t>→ stays Pending. Nowhere compliant to go.</a:t>
            </a:r>
            <a:endParaRPr lang="en-US" sz="1150" dirty="0"/>
          </a:p>
        </p:txBody>
      </p:sp>
      <p:sp>
        <p:nvSpPr>
          <p:cNvPr id="7" name="Shape 5"/>
          <p:cNvSpPr/>
          <p:nvPr/>
        </p:nvSpPr>
        <p:spPr>
          <a:xfrm>
            <a:off x="4663440" y="1417320"/>
            <a:ext cx="4023360" cy="2011680"/>
          </a:xfrm>
          <a:prstGeom prst="roundRect">
            <a:avLst>
              <a:gd name="adj" fmla="val 4545"/>
            </a:avLst>
          </a:prstGeom>
          <a:solidFill>
            <a:srgbClr val="E2F7F4"/>
          </a:solidFill>
          <a:ln/>
        </p:spPr>
      </p:sp>
      <p:sp>
        <p:nvSpPr>
          <p:cNvPr id="8" name="Text 6"/>
          <p:cNvSpPr/>
          <p:nvPr/>
        </p:nvSpPr>
        <p:spPr>
          <a:xfrm>
            <a:off x="4892040" y="1554480"/>
            <a:ext cx="3566160" cy="365760"/>
          </a:xfrm>
          <a:prstGeom prst="rect">
            <a:avLst/>
          </a:prstGeom>
          <a:noFill/>
          <a:ln/>
        </p:spPr>
        <p:txBody>
          <a:bodyPr wrap="square" lIns="0" tIns="0" rIns="0" bIns="0" rtlCol="0" anchor="ctr"/>
          <a:lstStyle/>
          <a:p>
            <a:pPr indent="0" marL="0">
              <a:buNone/>
            </a:pPr>
            <a:r>
              <a:rPr lang="en-US" sz="1500" b="1" dirty="0">
                <a:solidFill>
                  <a:srgbClr val="0E7C6F"/>
                </a:solidFill>
                <a:latin typeface="Cambria" pitchFamily="34" charset="0"/>
                <a:ea typeface="Cambria" pitchFamily="34" charset="-122"/>
                <a:cs typeface="Cambria" pitchFamily="34" charset="-120"/>
              </a:rPr>
              <a:t>Tolerates the spot taint</a:t>
            </a:r>
            <a:endParaRPr lang="en-US" sz="1500" dirty="0"/>
          </a:p>
        </p:txBody>
      </p:sp>
      <p:sp>
        <p:nvSpPr>
          <p:cNvPr id="9" name="Text 7"/>
          <p:cNvSpPr/>
          <p:nvPr/>
        </p:nvSpPr>
        <p:spPr>
          <a:xfrm>
            <a:off x="4892040" y="1965960"/>
            <a:ext cx="3566160" cy="1280160"/>
          </a:xfrm>
          <a:prstGeom prst="rect">
            <a:avLst/>
          </a:prstGeom>
          <a:noFill/>
          <a:ln/>
        </p:spPr>
        <p:txBody>
          <a:bodyPr wrap="square" lIns="0" tIns="0" rIns="0" bIns="0" rtlCol="0" anchor="ctr"/>
          <a:lstStyle/>
          <a:p>
            <a:pPr indent="0" marL="0">
              <a:buNone/>
            </a:pPr>
            <a:r>
              <a:rPr lang="en-US" sz="1150" dirty="0">
                <a:solidFill>
                  <a:srgbClr val="1A1F36"/>
                </a:solidFill>
                <a:latin typeface="Courier New" pitchFamily="34" charset="0"/>
                <a:ea typeface="Courier New" pitchFamily="34" charset="-122"/>
                <a:cs typeface="Courier New" pitchFamily="34" charset="-120"/>
              </a:rPr>
              <a:t>kubectl apply -f spot-workload.yaml</a:t>
            </a:r>
            <a:endParaRPr lang="en-US" sz="1150" dirty="0"/>
          </a:p>
          <a:p>
            <a:pPr indent="0" marL="0">
              <a:buNone/>
            </a:pPr>
            <a:r>
              <a:rPr lang="en-US" sz="1150" dirty="0">
                <a:solidFill>
                  <a:srgbClr val="1A1F36"/>
                </a:solidFill>
                <a:latin typeface="Courier New" pitchFamily="34" charset="0"/>
                <a:ea typeface="Courier New" pitchFamily="34" charset="-122"/>
                <a:cs typeface="Courier New" pitchFamily="34" charset="-120"/>
              </a:rPr>
              <a:t>→ batch-cruncher Running ON the spot node.</a:t>
            </a:r>
            <a:endParaRPr lang="en-US" sz="1150" dirty="0"/>
          </a:p>
        </p:txBody>
      </p:sp>
      <p:sp>
        <p:nvSpPr>
          <p:cNvPr id="10" name="Shape 8"/>
          <p:cNvSpPr/>
          <p:nvPr/>
        </p:nvSpPr>
        <p:spPr>
          <a:xfrm>
            <a:off x="457200" y="3657600"/>
            <a:ext cx="8266176" cy="914400"/>
          </a:xfrm>
          <a:prstGeom prst="roundRect">
            <a:avLst>
              <a:gd name="adj" fmla="val 8000"/>
            </a:avLst>
          </a:prstGeom>
          <a:solidFill>
            <a:srgbClr val="EFF4FE"/>
          </a:solidFill>
          <a:ln/>
        </p:spPr>
      </p:sp>
      <p:sp>
        <p:nvSpPr>
          <p:cNvPr id="11" name="Text 9"/>
          <p:cNvSpPr/>
          <p:nvPr/>
        </p:nvSpPr>
        <p:spPr>
          <a:xfrm>
            <a:off x="731520" y="3657600"/>
            <a:ext cx="7772400" cy="914400"/>
          </a:xfrm>
          <a:prstGeom prst="rect">
            <a:avLst/>
          </a:prstGeom>
          <a:noFill/>
          <a:ln/>
        </p:spPr>
        <p:txBody>
          <a:bodyPr wrap="square" lIns="0" tIns="0" rIns="0" bIns="0"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Why it matters:  </a:t>
            </a:r>
            <a:pPr indent="0" marL="0">
              <a:buNone/>
            </a:pPr>
            <a:r>
              <a:rPr lang="en-US" sz="1300" dirty="0">
                <a:solidFill>
                  <a:srgbClr val="1A1F36"/>
                </a:solidFill>
                <a:latin typeface="Calibri" pitchFamily="34" charset="0"/>
                <a:ea typeface="Calibri" pitchFamily="34" charset="-122"/>
                <a:cs typeface="Calibri" pitchFamily="34" charset="-120"/>
              </a:rPr>
              <a:t>taints + tolerations are your compliance boundary — only workloads that explicitly accept reclaim-risk may ride spot capacity. That's the policy story regulators want written down.</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640080"/>
          </a:xfrm>
          <a:prstGeom prst="rect">
            <a:avLst/>
          </a:prstGeom>
          <a:noFill/>
          <a:ln/>
        </p:spPr>
        <p:txBody>
          <a:bodyPr wrap="square" lIns="0" tIns="0" rIns="0" bIns="0" rtlCol="0" anchor="ctr"/>
          <a:lstStyle/>
          <a:p>
            <a:pPr indent="0" marL="0">
              <a:buNone/>
            </a:pPr>
            <a:r>
              <a:rPr lang="en-US" sz="3000" b="1" dirty="0">
                <a:solidFill>
                  <a:srgbClr val="1A1F36"/>
                </a:solidFill>
                <a:latin typeface="Cambria" pitchFamily="34" charset="0"/>
                <a:ea typeface="Cambria" pitchFamily="34" charset="-122"/>
                <a:cs typeface="Cambria" pitchFamily="34" charset="-120"/>
              </a:rPr>
              <a:t>Flag 3 — survive the drain</a:t>
            </a:r>
            <a:endParaRPr lang="en-US" sz="3000" dirty="0"/>
          </a:p>
        </p:txBody>
      </p:sp>
      <p:sp>
        <p:nvSpPr>
          <p:cNvPr id="3" name="Shape 1"/>
          <p:cNvSpPr/>
          <p:nvPr/>
        </p:nvSpPr>
        <p:spPr>
          <a:xfrm>
            <a:off x="457200" y="1280160"/>
            <a:ext cx="8266176" cy="548640"/>
          </a:xfrm>
          <a:prstGeom prst="roundRect">
            <a:avLst>
              <a:gd name="adj" fmla="val 10000"/>
            </a:avLst>
          </a:prstGeom>
          <a:solidFill>
            <a:srgbClr val="1E2761"/>
          </a:solidFill>
          <a:ln/>
          <a:effectLst>
            <a:outerShdw sx="100000" sy="100000" kx="0" ky="0" algn="bl" rotWithShape="0" blurRad="76200" dist="25400" dir="2700000">
              <a:srgbClr val="000000">
                <a:alpha val="14000"/>
              </a:srgbClr>
            </a:outerShdw>
          </a:effectLst>
        </p:spPr>
      </p:sp>
      <p:sp>
        <p:nvSpPr>
          <p:cNvPr id="4" name="Text 2"/>
          <p:cNvSpPr/>
          <p:nvPr/>
        </p:nvSpPr>
        <p:spPr>
          <a:xfrm>
            <a:off x="594360" y="1280160"/>
            <a:ext cx="7991856" cy="548640"/>
          </a:xfrm>
          <a:prstGeom prst="rect">
            <a:avLst/>
          </a:prstGeom>
          <a:noFill/>
          <a:ln/>
        </p:spPr>
        <p:txBody>
          <a:bodyPr wrap="square" lIns="0" tIns="0" rIns="0" bIns="0" rtlCol="0" anchor="ctr"/>
          <a:lstStyle/>
          <a:p>
            <a:pPr indent="0" marL="0">
              <a:buNone/>
            </a:pPr>
            <a:r>
              <a:rPr lang="en-US" sz="1250" dirty="0">
                <a:solidFill>
                  <a:srgbClr val="CADCFC"/>
                </a:solidFill>
                <a:latin typeface="Courier New" pitchFamily="34" charset="0"/>
                <a:ea typeface="Courier New" pitchFamily="34" charset="-122"/>
                <a:cs typeface="Courier New" pitchFamily="34" charset="-120"/>
              </a:rPr>
              <a:t>kubectl patch sm business-hours-worker --type merge -p '{"spec":{"schedule":{"enabled":false}}}'</a:t>
            </a:r>
            <a:endParaRPr lang="en-US" sz="1250" dirty="0"/>
          </a:p>
        </p:txBody>
      </p:sp>
      <p:sp>
        <p:nvSpPr>
          <p:cNvPr id="5" name="Shape 3"/>
          <p:cNvSpPr/>
          <p:nvPr/>
        </p:nvSpPr>
        <p:spPr>
          <a:xfrm>
            <a:off x="822960" y="2148840"/>
            <a:ext cx="2103120" cy="640080"/>
          </a:xfrm>
          <a:prstGeom prst="roundRect">
            <a:avLst>
              <a:gd name="adj" fmla="val 50000"/>
            </a:avLst>
          </a:prstGeom>
          <a:solidFill>
            <a:srgbClr val="2EC4B6"/>
          </a:solidFill>
          <a:ln/>
        </p:spPr>
      </p:sp>
      <p:sp>
        <p:nvSpPr>
          <p:cNvPr id="6" name="Text 4"/>
          <p:cNvSpPr/>
          <p:nvPr/>
        </p:nvSpPr>
        <p:spPr>
          <a:xfrm>
            <a:off x="822960" y="2148840"/>
            <a:ext cx="2103120" cy="640080"/>
          </a:xfrm>
          <a:prstGeom prst="rect">
            <a:avLst/>
          </a:prstGeom>
          <a:noFill/>
          <a:ln/>
        </p:spPr>
        <p:txBody>
          <a:bodyPr wrap="square" lIns="0" tIns="0" rIns="0" bIns="0" rtlCol="0" anchor="ctr"/>
          <a:lstStyle/>
          <a:p>
            <a:pPr algn="ctr" indent="0" marL="0">
              <a:buNone/>
            </a:pPr>
            <a:r>
              <a:rPr lang="en-US" sz="1500" b="1" dirty="0">
                <a:solidFill>
                  <a:srgbClr val="1E2761"/>
                </a:solidFill>
                <a:latin typeface="Cambria" pitchFamily="34" charset="0"/>
                <a:ea typeface="Cambria" pitchFamily="34" charset="-122"/>
                <a:cs typeface="Cambria" pitchFamily="34" charset="-120"/>
              </a:rPr>
              <a:t>Active</a:t>
            </a:r>
            <a:endParaRPr lang="en-US" sz="1500" dirty="0"/>
          </a:p>
        </p:txBody>
      </p:sp>
      <p:sp>
        <p:nvSpPr>
          <p:cNvPr id="7" name="Shape 5"/>
          <p:cNvSpPr/>
          <p:nvPr/>
        </p:nvSpPr>
        <p:spPr>
          <a:xfrm>
            <a:off x="2944368" y="2468880"/>
            <a:ext cx="566928" cy="0"/>
          </a:xfrm>
          <a:prstGeom prst="line">
            <a:avLst/>
          </a:prstGeom>
          <a:noFill/>
          <a:ln w="31750">
            <a:solidFill>
              <a:srgbClr val="5B6478"/>
            </a:solidFill>
            <a:prstDash val="solid"/>
            <a:tailEnd type="triangle"/>
          </a:ln>
        </p:spPr>
      </p:sp>
      <p:sp>
        <p:nvSpPr>
          <p:cNvPr id="8" name="Shape 6"/>
          <p:cNvSpPr/>
          <p:nvPr/>
        </p:nvSpPr>
        <p:spPr>
          <a:xfrm>
            <a:off x="3566160" y="2148840"/>
            <a:ext cx="2103120" cy="640080"/>
          </a:xfrm>
          <a:prstGeom prst="roundRect">
            <a:avLst>
              <a:gd name="adj" fmla="val 50000"/>
            </a:avLst>
          </a:prstGeom>
          <a:solidFill>
            <a:srgbClr val="F4A259"/>
          </a:solidFill>
          <a:ln/>
        </p:spPr>
      </p:sp>
      <p:sp>
        <p:nvSpPr>
          <p:cNvPr id="9" name="Text 7"/>
          <p:cNvSpPr/>
          <p:nvPr/>
        </p:nvSpPr>
        <p:spPr>
          <a:xfrm>
            <a:off x="3566160" y="2148840"/>
            <a:ext cx="2103120" cy="640080"/>
          </a:xfrm>
          <a:prstGeom prst="rect">
            <a:avLst/>
          </a:prstGeom>
          <a:noFill/>
          <a:ln/>
        </p:spPr>
        <p:txBody>
          <a:bodyPr wrap="square" lIns="0" tIns="0" rIns="0" bIns="0" rtlCol="0" anchor="ctr"/>
          <a:lstStyle/>
          <a:p>
            <a:pPr algn="ctr" indent="0" marL="0">
              <a:buNone/>
            </a:pPr>
            <a:r>
              <a:rPr lang="en-US" sz="1500" b="1" dirty="0">
                <a:solidFill>
                  <a:srgbClr val="1E2761"/>
                </a:solidFill>
                <a:latin typeface="Cambria" pitchFamily="34" charset="0"/>
                <a:ea typeface="Cambria" pitchFamily="34" charset="-122"/>
                <a:cs typeface="Cambria" pitchFamily="34" charset="-120"/>
              </a:rPr>
              <a:t>ShuttingDown</a:t>
            </a:r>
            <a:endParaRPr lang="en-US" sz="1500" dirty="0"/>
          </a:p>
        </p:txBody>
      </p:sp>
      <p:sp>
        <p:nvSpPr>
          <p:cNvPr id="10" name="Shape 8"/>
          <p:cNvSpPr/>
          <p:nvPr/>
        </p:nvSpPr>
        <p:spPr>
          <a:xfrm>
            <a:off x="5687568" y="2468880"/>
            <a:ext cx="566928" cy="0"/>
          </a:xfrm>
          <a:prstGeom prst="line">
            <a:avLst/>
          </a:prstGeom>
          <a:noFill/>
          <a:ln w="31750">
            <a:solidFill>
              <a:srgbClr val="5B6478"/>
            </a:solidFill>
            <a:prstDash val="solid"/>
            <a:tailEnd type="triangle"/>
          </a:ln>
        </p:spPr>
      </p:sp>
      <p:sp>
        <p:nvSpPr>
          <p:cNvPr id="11" name="Shape 9"/>
          <p:cNvSpPr/>
          <p:nvPr/>
        </p:nvSpPr>
        <p:spPr>
          <a:xfrm>
            <a:off x="6309360" y="2148840"/>
            <a:ext cx="2103120" cy="640080"/>
          </a:xfrm>
          <a:prstGeom prst="roundRect">
            <a:avLst>
              <a:gd name="adj" fmla="val 50000"/>
            </a:avLst>
          </a:prstGeom>
          <a:solidFill>
            <a:srgbClr val="1E2761"/>
          </a:solidFill>
          <a:ln/>
        </p:spPr>
      </p:sp>
      <p:sp>
        <p:nvSpPr>
          <p:cNvPr id="12" name="Text 10"/>
          <p:cNvSpPr/>
          <p:nvPr/>
        </p:nvSpPr>
        <p:spPr>
          <a:xfrm>
            <a:off x="6309360" y="2148840"/>
            <a:ext cx="2103120" cy="640080"/>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Inactive</a:t>
            </a:r>
            <a:endParaRPr lang="en-US" sz="1500" dirty="0"/>
          </a:p>
        </p:txBody>
      </p:sp>
      <p:sp>
        <p:nvSpPr>
          <p:cNvPr id="13" name="Text 11"/>
          <p:cNvSpPr/>
          <p:nvPr/>
        </p:nvSpPr>
        <p:spPr>
          <a:xfrm>
            <a:off x="457200" y="3017520"/>
            <a:ext cx="8229600" cy="640080"/>
          </a:xfrm>
          <a:prstGeom prst="rect">
            <a:avLst/>
          </a:prstGeom>
          <a:noFill/>
          <a:ln/>
        </p:spPr>
        <p:txBody>
          <a:bodyPr wrap="square" lIns="0" tIns="0" rIns="0" bIns="0" rtlCol="0" anchor="ctr"/>
          <a:lstStyle/>
          <a:p>
            <a:pPr indent="0" marL="0">
              <a:buNone/>
            </a:pPr>
            <a:r>
              <a:rPr lang="en-US" sz="1350" dirty="0">
                <a:solidFill>
                  <a:srgbClr val="1A1F36"/>
                </a:solidFill>
                <a:latin typeface="Calibri" pitchFamily="34" charset="0"/>
                <a:ea typeface="Calibri" pitchFamily="34" charset="-122"/>
                <a:cs typeface="Calibri" pitchFamily="34" charset="-120"/>
              </a:rPr>
              <a:t>Watch the node get cordoned, the workload get evicted gracefully (not killed), and the machine objects disappear — all inside </a:t>
            </a:r>
            <a:pPr indent="0" marL="0">
              <a:buNone/>
            </a:pPr>
            <a:r>
              <a:rPr lang="en-US" sz="1350" b="1" dirty="0">
                <a:solidFill>
                  <a:srgbClr val="1E2761"/>
                </a:solidFill>
                <a:latin typeface="Courier New" pitchFamily="34" charset="0"/>
                <a:ea typeface="Courier New" pitchFamily="34" charset="-122"/>
                <a:cs typeface="Courier New" pitchFamily="34" charset="-120"/>
              </a:rPr>
              <a:t>gracefulShutdownTimeout</a:t>
            </a:r>
            <a:pPr indent="0" marL="0">
              <a:buNone/>
            </a:pPr>
            <a:r>
              <a:rPr lang="en-US" sz="1350" dirty="0">
                <a:solidFill>
                  <a:srgbClr val="1A1F36"/>
                </a:solidFill>
                <a:latin typeface="Calibri" pitchFamily="34" charset="0"/>
                <a:ea typeface="Calibri" pitchFamily="34" charset="-122"/>
                <a:cs typeface="Calibri" pitchFamily="34" charset="-120"/>
              </a:rPr>
              <a:t>.</a:t>
            </a:r>
            <a:endParaRPr lang="en-US" sz="1350" dirty="0"/>
          </a:p>
        </p:txBody>
      </p:sp>
      <p:sp>
        <p:nvSpPr>
          <p:cNvPr id="14" name="Shape 12"/>
          <p:cNvSpPr/>
          <p:nvPr/>
        </p:nvSpPr>
        <p:spPr>
          <a:xfrm>
            <a:off x="457200" y="3749040"/>
            <a:ext cx="8266176" cy="868680"/>
          </a:xfrm>
          <a:prstGeom prst="roundRect">
            <a:avLst>
              <a:gd name="adj" fmla="val 8421"/>
            </a:avLst>
          </a:prstGeom>
          <a:solidFill>
            <a:srgbClr val="FCEFE3"/>
          </a:solidFill>
          <a:ln/>
        </p:spPr>
      </p:sp>
      <p:sp>
        <p:nvSpPr>
          <p:cNvPr id="15" name="Text 13"/>
          <p:cNvSpPr/>
          <p:nvPr/>
        </p:nvSpPr>
        <p:spPr>
          <a:xfrm>
            <a:off x="731520" y="3749040"/>
            <a:ext cx="7772400" cy="868680"/>
          </a:xfrm>
          <a:prstGeom prst="rect">
            <a:avLst/>
          </a:prstGeom>
          <a:noFill/>
          <a:ln/>
        </p:spPr>
        <p:txBody>
          <a:bodyPr wrap="square" lIns="0" tIns="0" rIns="0" bIns="0" rtlCol="0" anchor="ctr"/>
          <a:lstStyle/>
          <a:p>
            <a:pPr indent="0" marL="0">
              <a:buNone/>
            </a:pPr>
            <a:r>
              <a:rPr lang="en-US" sz="1300" b="1" dirty="0">
                <a:solidFill>
                  <a:srgbClr val="9A5B13"/>
                </a:solidFill>
                <a:latin typeface="Calibri" pitchFamily="34" charset="0"/>
                <a:ea typeface="Calibri" pitchFamily="34" charset="-122"/>
                <a:cs typeface="Calibri" pitchFamily="34" charset="-120"/>
              </a:rPr>
              <a:t>The 2-minute drill:  </a:t>
            </a:r>
            <a:pPr indent="0" marL="0">
              <a:buNone/>
            </a:pPr>
            <a:r>
              <a:rPr lang="en-US" sz="1300" dirty="0">
                <a:solidFill>
                  <a:srgbClr val="1A1F36"/>
                </a:solidFill>
                <a:latin typeface="Calibri" pitchFamily="34" charset="0"/>
                <a:ea typeface="Calibri" pitchFamily="34" charset="-122"/>
                <a:cs typeface="Calibri" pitchFamily="34" charset="-120"/>
              </a:rPr>
              <a:t>killSwitch: true is the emergency reclaim — immediate, grace-period-skipping. Try it after the flag; flip it back to false.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457200" y="292608"/>
            <a:ext cx="8229600" cy="640080"/>
          </a:xfrm>
          <a:prstGeom prst="rect">
            <a:avLst/>
          </a:prstGeom>
          <a:noFill/>
          <a:ln/>
        </p:spPr>
        <p:txBody>
          <a:bodyPr wrap="square" lIns="0" tIns="0" rIns="0" bIns="0"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The bonuses — for the hungry</a:t>
            </a:r>
            <a:endParaRPr lang="en-US" sz="3000" dirty="0"/>
          </a:p>
        </p:txBody>
      </p:sp>
      <p:sp>
        <p:nvSpPr>
          <p:cNvPr id="3" name="Shape 1"/>
          <p:cNvSpPr/>
          <p:nvPr/>
        </p:nvSpPr>
        <p:spPr>
          <a:xfrm>
            <a:off x="457200" y="1188720"/>
            <a:ext cx="4023360" cy="3017520"/>
          </a:xfrm>
          <a:prstGeom prst="roundRect">
            <a:avLst>
              <a:gd name="adj" fmla="val 3030"/>
            </a:avLst>
          </a:prstGeom>
          <a:solidFill>
            <a:srgbClr val="27336E"/>
          </a:solidFill>
          <a:ln/>
        </p:spPr>
      </p:sp>
      <p:sp>
        <p:nvSpPr>
          <p:cNvPr id="4" name="Shape 2"/>
          <p:cNvSpPr/>
          <p:nvPr/>
        </p:nvSpPr>
        <p:spPr>
          <a:xfrm>
            <a:off x="749808" y="1417320"/>
            <a:ext cx="548640" cy="548640"/>
          </a:xfrm>
          <a:prstGeom prst="ellipse">
            <a:avLst/>
          </a:prstGeom>
          <a:solidFill>
            <a:srgbClr val="2EC4B6"/>
          </a:solidFill>
          <a:ln/>
        </p:spPr>
      </p:sp>
      <p:pic>
        <p:nvPicPr>
          <p:cNvPr id="5" name="Image 0" descr="preencoded.png">    </p:cNvPr>
          <p:cNvPicPr>
            <a:picLocks noChangeAspect="1"/>
          </p:cNvPicPr>
          <p:nvPr/>
        </p:nvPicPr>
        <p:blipFill>
          <a:blip r:embed="rId1"/>
          <a:stretch>
            <a:fillRect/>
          </a:stretch>
        </p:blipFill>
        <p:spPr>
          <a:xfrm>
            <a:off x="868680" y="1536192"/>
            <a:ext cx="310896" cy="310896"/>
          </a:xfrm>
          <a:prstGeom prst="rect">
            <a:avLst/>
          </a:prstGeom>
        </p:spPr>
      </p:pic>
      <p:sp>
        <p:nvSpPr>
          <p:cNvPr id="6" name="Text 3"/>
          <p:cNvSpPr/>
          <p:nvPr/>
        </p:nvSpPr>
        <p:spPr>
          <a:xfrm>
            <a:off x="1444752" y="1481328"/>
            <a:ext cx="2926080" cy="45720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  GitOps with flux-operator</a:t>
            </a:r>
            <a:endParaRPr lang="en-US" sz="1500" dirty="0"/>
          </a:p>
        </p:txBody>
      </p:sp>
      <p:sp>
        <p:nvSpPr>
          <p:cNvPr id="7" name="Text 4"/>
          <p:cNvSpPr/>
          <p:nvPr/>
        </p:nvSpPr>
        <p:spPr>
          <a:xfrm>
            <a:off x="749808" y="2148840"/>
            <a:ext cx="3520440" cy="1920240"/>
          </a:xfrm>
          <a:prstGeom prst="rect">
            <a:avLst/>
          </a:prstGeom>
          <a:noFill/>
          <a:ln/>
        </p:spPr>
        <p:txBody>
          <a:bodyPr wrap="square" lIns="0" tIns="0" rIns="0" bIns="0" rtlCol="0" anchor="ctr"/>
          <a:lstStyle/>
          <a:p>
            <a:pPr marL="342900" indent="-342900">
              <a:spcAft>
                <a:spcPts val="800"/>
              </a:spcAft>
              <a:buSzPct val="100000"/>
              <a:buChar char="•"/>
            </a:pPr>
            <a:r>
              <a:rPr lang="en-US" sz="1200" dirty="0">
                <a:solidFill>
                  <a:srgbClr val="CADCFC"/>
                </a:solidFill>
                <a:latin typeface="Calibri" pitchFamily="34" charset="0"/>
                <a:ea typeface="Calibri" pitchFamily="34" charset="-122"/>
                <a:cs typeface="Calibri" pitchFamily="34" charset="-120"/>
              </a:rPr>
              <a:t>FluxInstance CR installs Flux; GitRepository + Kustomization own the ScheduledMachine</a:t>
            </a:r>
            <a:endParaRPr lang="en-US" sz="1200" dirty="0"/>
          </a:p>
          <a:p>
            <a:pPr marL="342900" indent="-342900">
              <a:spcAft>
                <a:spcPts val="800"/>
              </a:spcAft>
              <a:buSzPct val="100000"/>
              <a:buChar char="•"/>
            </a:pPr>
            <a:r>
              <a:rPr lang="en-US" sz="1200" dirty="0">
                <a:solidFill>
                  <a:srgbClr val="CADCFC"/>
                </a:solidFill>
                <a:latin typeface="Calibri" pitchFamily="34" charset="0"/>
                <a:ea typeface="Calibri" pitchFamily="34" charset="-122"/>
                <a:cs typeface="Calibri" pitchFamily="34" charset="-120"/>
              </a:rPr>
              <a:t>Open/close the window by committing — auditable change control</a:t>
            </a:r>
            <a:endParaRPr lang="en-US" sz="1200" dirty="0"/>
          </a:p>
        </p:txBody>
      </p:sp>
      <p:sp>
        <p:nvSpPr>
          <p:cNvPr id="8" name="Shape 5"/>
          <p:cNvSpPr/>
          <p:nvPr/>
        </p:nvSpPr>
        <p:spPr>
          <a:xfrm>
            <a:off x="4663440" y="1188720"/>
            <a:ext cx="4023360" cy="3017520"/>
          </a:xfrm>
          <a:prstGeom prst="roundRect">
            <a:avLst>
              <a:gd name="adj" fmla="val 3030"/>
            </a:avLst>
          </a:prstGeom>
          <a:solidFill>
            <a:srgbClr val="27336E"/>
          </a:solidFill>
          <a:ln/>
        </p:spPr>
      </p:sp>
      <p:sp>
        <p:nvSpPr>
          <p:cNvPr id="9" name="Shape 6"/>
          <p:cNvSpPr/>
          <p:nvPr/>
        </p:nvSpPr>
        <p:spPr>
          <a:xfrm>
            <a:off x="4956048" y="1417320"/>
            <a:ext cx="548640" cy="548640"/>
          </a:xfrm>
          <a:prstGeom prst="ellipse">
            <a:avLst/>
          </a:prstGeom>
          <a:solidFill>
            <a:srgbClr val="F4A259"/>
          </a:solidFill>
          <a:ln/>
        </p:spPr>
      </p:sp>
      <p:pic>
        <p:nvPicPr>
          <p:cNvPr id="10" name="Image 1" descr="preencoded.png">    </p:cNvPr>
          <p:cNvPicPr>
            <a:picLocks noChangeAspect="1"/>
          </p:cNvPicPr>
          <p:nvPr/>
        </p:nvPicPr>
        <p:blipFill>
          <a:blip r:embed="rId2"/>
          <a:stretch>
            <a:fillRect/>
          </a:stretch>
        </p:blipFill>
        <p:spPr>
          <a:xfrm>
            <a:off x="5074920" y="1536192"/>
            <a:ext cx="310896" cy="310896"/>
          </a:xfrm>
          <a:prstGeom prst="rect">
            <a:avLst/>
          </a:prstGeom>
        </p:spPr>
      </p:pic>
      <p:sp>
        <p:nvSpPr>
          <p:cNvPr id="11" name="Text 7"/>
          <p:cNvSpPr/>
          <p:nvPr/>
        </p:nvSpPr>
        <p:spPr>
          <a:xfrm>
            <a:off x="5650992" y="1481328"/>
            <a:ext cx="2926080" cy="45720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  Confidential Containers</a:t>
            </a:r>
            <a:endParaRPr lang="en-US" sz="1500" dirty="0"/>
          </a:p>
        </p:txBody>
      </p:sp>
      <p:sp>
        <p:nvSpPr>
          <p:cNvPr id="12" name="Text 8"/>
          <p:cNvSpPr/>
          <p:nvPr/>
        </p:nvSpPr>
        <p:spPr>
          <a:xfrm>
            <a:off x="4956048" y="2148840"/>
            <a:ext cx="3520440" cy="1920240"/>
          </a:xfrm>
          <a:prstGeom prst="rect">
            <a:avLst/>
          </a:prstGeom>
          <a:noFill/>
          <a:ln/>
        </p:spPr>
        <p:txBody>
          <a:bodyPr wrap="square" lIns="0" tIns="0" rIns="0" bIns="0" rtlCol="0" anchor="ctr"/>
          <a:lstStyle/>
          <a:p>
            <a:pPr marL="342900" indent="-342900">
              <a:spcAft>
                <a:spcPts val="800"/>
              </a:spcAft>
              <a:buSzPct val="100000"/>
              <a:buChar char="•"/>
            </a:pPr>
            <a:r>
              <a:rPr lang="en-US" sz="1200" dirty="0">
                <a:solidFill>
                  <a:srgbClr val="CADCFC"/>
                </a:solidFill>
                <a:latin typeface="Calibri" pitchFamily="34" charset="0"/>
                <a:ea typeface="Calibri" pitchFamily="34" charset="-122"/>
                <a:cs typeface="Calibri" pitchFamily="34" charset="-120"/>
              </a:rPr>
              <a:t>Sensitive workload in a TEE/microVM ON the reclaimable spot node — runtimeClassName is the only change</a:t>
            </a:r>
            <a:endParaRPr lang="en-US" sz="1200" dirty="0"/>
          </a:p>
          <a:p>
            <a:pPr marL="342900" indent="-342900">
              <a:spcAft>
                <a:spcPts val="800"/>
              </a:spcAft>
              <a:buSzPct val="100000"/>
              <a:buChar char="•"/>
            </a:pPr>
            <a:r>
              <a:rPr lang="en-US" sz="1200" dirty="0">
                <a:solidFill>
                  <a:srgbClr val="CADCFC"/>
                </a:solidFill>
                <a:latin typeface="Calibri" pitchFamily="34" charset="0"/>
                <a:ea typeface="Calibri" pitchFamily="34" charset="-122"/>
                <a:cs typeface="Calibri" pitchFamily="34" charset="-120"/>
              </a:rPr>
              <a:t>Needs nested virt (/dev/kvm) on the worker. Linux host best; kind → kata-clh; Apple Silicon can't x86-TEE</a:t>
            </a:r>
            <a:endParaRPr lang="en-US" sz="1200" dirty="0"/>
          </a:p>
        </p:txBody>
      </p:sp>
      <p:sp>
        <p:nvSpPr>
          <p:cNvPr id="13" name="Text 9"/>
          <p:cNvSpPr/>
          <p:nvPr/>
        </p:nvSpPr>
        <p:spPr>
          <a:xfrm>
            <a:off x="457200" y="4389120"/>
            <a:ext cx="8229600" cy="411480"/>
          </a:xfrm>
          <a:prstGeom prst="rect">
            <a:avLst/>
          </a:prstGeom>
          <a:noFill/>
          <a:ln/>
        </p:spPr>
        <p:txBody>
          <a:bodyPr wrap="square" lIns="0" tIns="0" rIns="0" bIns="0" rtlCol="0" anchor="ctr"/>
          <a:lstStyle/>
          <a:p>
            <a:pPr algn="ctr" indent="0" marL="0">
              <a:buNone/>
            </a:pPr>
            <a:r>
              <a:rPr lang="en-US" sz="1300" b="1" dirty="0">
                <a:solidFill>
                  <a:srgbClr val="2EC4B6"/>
                </a:solidFill>
                <a:latin typeface="Calibri" pitchFamily="34" charset="0"/>
                <a:ea typeface="Calibri" pitchFamily="34" charset="-122"/>
                <a:cs typeface="Calibri" pitchFamily="34" charset="-120"/>
              </a:rPr>
              <a:t>Regulated data, on spot capacity, hardware-protected — that's the punchline of the whole afternoon.</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292608"/>
            <a:ext cx="8229600" cy="640080"/>
          </a:xfrm>
          <a:prstGeom prst="rect">
            <a:avLst/>
          </a:prstGeom>
          <a:noFill/>
          <a:ln/>
        </p:spPr>
        <p:txBody>
          <a:bodyPr wrap="square" lIns="0" tIns="0" rIns="0" bIns="0" rtlCol="0" anchor="ctr"/>
          <a:lstStyle/>
          <a:p>
            <a:pPr indent="0" marL="0">
              <a:buNone/>
            </a:pPr>
            <a:r>
              <a:rPr lang="en-US" sz="3000" b="1" dirty="0">
                <a:solidFill>
                  <a:srgbClr val="1A1F36"/>
                </a:solidFill>
                <a:latin typeface="Cambria" pitchFamily="34" charset="0"/>
                <a:ea typeface="Cambria" pitchFamily="34" charset="-122"/>
                <a:cs typeface="Cambria" pitchFamily="34" charset="-120"/>
              </a:rPr>
              <a:t>House rules</a:t>
            </a:r>
            <a:endParaRPr lang="en-US" sz="3000" dirty="0"/>
          </a:p>
        </p:txBody>
      </p:sp>
      <p:sp>
        <p:nvSpPr>
          <p:cNvPr id="3" name="Shape 1"/>
          <p:cNvSpPr/>
          <p:nvPr/>
        </p:nvSpPr>
        <p:spPr>
          <a:xfrm>
            <a:off x="502920" y="1170432"/>
            <a:ext cx="566928" cy="566928"/>
          </a:xfrm>
          <a:prstGeom prst="ellipse">
            <a:avLst/>
          </a:prstGeom>
          <a:solidFill>
            <a:srgbClr val="EFF4FE"/>
          </a:solidFill>
          <a:ln/>
        </p:spPr>
      </p:sp>
      <p:pic>
        <p:nvPicPr>
          <p:cNvPr id="4" name="Image 0" descr="preencoded.png">    </p:cNvPr>
          <p:cNvPicPr>
            <a:picLocks noChangeAspect="1"/>
          </p:cNvPicPr>
          <p:nvPr/>
        </p:nvPicPr>
        <p:blipFill>
          <a:blip r:embed="rId1"/>
          <a:stretch>
            <a:fillRect/>
          </a:stretch>
        </p:blipFill>
        <p:spPr>
          <a:xfrm>
            <a:off x="630936" y="1298448"/>
            <a:ext cx="310896" cy="310896"/>
          </a:xfrm>
          <a:prstGeom prst="rect">
            <a:avLst/>
          </a:prstGeom>
        </p:spPr>
      </p:pic>
      <p:sp>
        <p:nvSpPr>
          <p:cNvPr id="5" name="Text 2"/>
          <p:cNvSpPr/>
          <p:nvPr/>
        </p:nvSpPr>
        <p:spPr>
          <a:xfrm>
            <a:off x="1280160" y="1097280"/>
            <a:ext cx="7406640" cy="73152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Teams or solo  —  </a:t>
            </a:r>
            <a:pPr indent="0" marL="0">
              <a:buNone/>
            </a:pPr>
            <a:r>
              <a:rPr lang="en-US" sz="1300" dirty="0">
                <a:solidFill>
                  <a:srgbClr val="1A1F36"/>
                </a:solidFill>
                <a:latin typeface="Calibri" pitchFamily="34" charset="0"/>
                <a:ea typeface="Calibri" pitchFamily="34" charset="-122"/>
                <a:cs typeface="Calibri" pitchFamily="34" charset="-120"/>
              </a:rPr>
              <a:t>Your call. Own sandbox each; pair up freely — seniors helping seniors is the point.</a:t>
            </a:r>
            <a:endParaRPr lang="en-US" sz="1450" dirty="0"/>
          </a:p>
        </p:txBody>
      </p:sp>
      <p:sp>
        <p:nvSpPr>
          <p:cNvPr id="6" name="Shape 3"/>
          <p:cNvSpPr/>
          <p:nvPr/>
        </p:nvSpPr>
        <p:spPr>
          <a:xfrm>
            <a:off x="502920" y="2057400"/>
            <a:ext cx="566928" cy="566928"/>
          </a:xfrm>
          <a:prstGeom prst="ellipse">
            <a:avLst/>
          </a:prstGeom>
          <a:solidFill>
            <a:srgbClr val="EFF4FE"/>
          </a:solidFill>
          <a:ln/>
        </p:spPr>
      </p:sp>
      <p:pic>
        <p:nvPicPr>
          <p:cNvPr id="7" name="Image 1" descr="preencoded.png">    </p:cNvPr>
          <p:cNvPicPr>
            <a:picLocks noChangeAspect="1"/>
          </p:cNvPicPr>
          <p:nvPr/>
        </p:nvPicPr>
        <p:blipFill>
          <a:blip r:embed="rId2"/>
          <a:stretch>
            <a:fillRect/>
          </a:stretch>
        </p:blipFill>
        <p:spPr>
          <a:xfrm>
            <a:off x="630936" y="2185416"/>
            <a:ext cx="310896" cy="310896"/>
          </a:xfrm>
          <a:prstGeom prst="rect">
            <a:avLst/>
          </a:prstGeom>
        </p:spPr>
      </p:pic>
      <p:sp>
        <p:nvSpPr>
          <p:cNvPr id="8" name="Text 4"/>
          <p:cNvSpPr/>
          <p:nvPr/>
        </p:nvSpPr>
        <p:spPr>
          <a:xfrm>
            <a:off x="1280160" y="1984248"/>
            <a:ext cx="7406640" cy="73152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Leaderboard  —  </a:t>
            </a:r>
            <a:pPr indent="0" marL="0">
              <a:buNone/>
            </a:pPr>
            <a:r>
              <a:rPr lang="en-US" sz="1300" dirty="0">
                <a:solidFill>
                  <a:srgbClr val="1A1F36"/>
                </a:solidFill>
                <a:latin typeface="Calibri" pitchFamily="34" charset="0"/>
                <a:ea typeface="Calibri" pitchFamily="34" charset="-122"/>
                <a:cs typeface="Calibri" pitchFamily="34" charset="-120"/>
              </a:rPr>
              <a:t>Shout / paste your FLAG{…} when you capture it. Bragging rights only.</a:t>
            </a:r>
            <a:endParaRPr lang="en-US" sz="1450" dirty="0"/>
          </a:p>
        </p:txBody>
      </p:sp>
      <p:sp>
        <p:nvSpPr>
          <p:cNvPr id="9" name="Shape 5"/>
          <p:cNvSpPr/>
          <p:nvPr/>
        </p:nvSpPr>
        <p:spPr>
          <a:xfrm>
            <a:off x="502920" y="2944368"/>
            <a:ext cx="566928" cy="566928"/>
          </a:xfrm>
          <a:prstGeom prst="ellipse">
            <a:avLst/>
          </a:prstGeom>
          <a:solidFill>
            <a:srgbClr val="EFF4FE"/>
          </a:solidFill>
          <a:ln/>
        </p:spPr>
      </p:sp>
      <p:pic>
        <p:nvPicPr>
          <p:cNvPr id="10" name="Image 2" descr="preencoded.png">    </p:cNvPr>
          <p:cNvPicPr>
            <a:picLocks noChangeAspect="1"/>
          </p:cNvPicPr>
          <p:nvPr/>
        </p:nvPicPr>
        <p:blipFill>
          <a:blip r:embed="rId3"/>
          <a:stretch>
            <a:fillRect/>
          </a:stretch>
        </p:blipFill>
        <p:spPr>
          <a:xfrm>
            <a:off x="630936" y="3072384"/>
            <a:ext cx="310896" cy="310896"/>
          </a:xfrm>
          <a:prstGeom prst="rect">
            <a:avLst/>
          </a:prstGeom>
        </p:spPr>
      </p:pic>
      <p:sp>
        <p:nvSpPr>
          <p:cNvPr id="11" name="Text 6"/>
          <p:cNvSpPr/>
          <p:nvPr/>
        </p:nvSpPr>
        <p:spPr>
          <a:xfrm>
            <a:off x="1280160" y="2871216"/>
            <a:ext cx="7406640" cy="73152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Help ladder  —  </a:t>
            </a:r>
            <a:pPr indent="0" marL="0">
              <a:buNone/>
            </a:pPr>
            <a:r>
              <a:rPr lang="en-US" sz="1300" dirty="0">
                <a:solidFill>
                  <a:srgbClr val="1A1F36"/>
                </a:solidFill>
                <a:latin typeface="Calibri" pitchFamily="34" charset="0"/>
                <a:ea typeface="Calibri" pitchFamily="34" charset="-122"/>
                <a:cs typeface="Calibri" pitchFamily="34" charset="-120"/>
              </a:rPr>
              <a:t>1) the hints a failing CHECK prints  2) 5spot.finos.org/operations/troubleshooting  3) your table  4) me.</a:t>
            </a:r>
            <a:endParaRPr lang="en-US" sz="1450" dirty="0"/>
          </a:p>
        </p:txBody>
      </p:sp>
      <p:sp>
        <p:nvSpPr>
          <p:cNvPr id="12" name="Shape 7"/>
          <p:cNvSpPr/>
          <p:nvPr/>
        </p:nvSpPr>
        <p:spPr>
          <a:xfrm>
            <a:off x="502920" y="3831336"/>
            <a:ext cx="566928" cy="566928"/>
          </a:xfrm>
          <a:prstGeom prst="ellipse">
            <a:avLst/>
          </a:prstGeom>
          <a:solidFill>
            <a:srgbClr val="EFF4FE"/>
          </a:solidFill>
          <a:ln/>
        </p:spPr>
      </p:sp>
      <p:pic>
        <p:nvPicPr>
          <p:cNvPr id="13" name="Image 3" descr="preencoded.png">    </p:cNvPr>
          <p:cNvPicPr>
            <a:picLocks noChangeAspect="1"/>
          </p:cNvPicPr>
          <p:nvPr/>
        </p:nvPicPr>
        <p:blipFill>
          <a:blip r:embed="rId4"/>
          <a:stretch>
            <a:fillRect/>
          </a:stretch>
        </p:blipFill>
        <p:spPr>
          <a:xfrm>
            <a:off x="630936" y="3959352"/>
            <a:ext cx="310896" cy="310896"/>
          </a:xfrm>
          <a:prstGeom prst="rect">
            <a:avLst/>
          </a:prstGeom>
        </p:spPr>
      </p:pic>
      <p:sp>
        <p:nvSpPr>
          <p:cNvPr id="14" name="Text 8"/>
          <p:cNvSpPr/>
          <p:nvPr/>
        </p:nvSpPr>
        <p:spPr>
          <a:xfrm>
            <a:off x="1280160" y="3758184"/>
            <a:ext cx="7406640" cy="731520"/>
          </a:xfrm>
          <a:prstGeom prst="rect">
            <a:avLst/>
          </a:prstGeom>
          <a:noFill/>
          <a:ln/>
        </p:spPr>
        <p:txBody>
          <a:bodyPr wrap="square" lIns="0" tIns="0" rIns="0" bIns="0" rtlCol="0" anchor="ctr"/>
          <a:lstStyle/>
          <a:p>
            <a:pPr indent="0" marL="0">
              <a:buNone/>
            </a:pPr>
            <a:r>
              <a:rPr lang="en-US" sz="1450" b="1" dirty="0">
                <a:solidFill>
                  <a:srgbClr val="1E2761"/>
                </a:solidFill>
                <a:latin typeface="Calibri" pitchFamily="34" charset="0"/>
                <a:ea typeface="Calibri" pitchFamily="34" charset="-122"/>
                <a:cs typeface="Calibri" pitchFamily="34" charset="-120"/>
              </a:rPr>
              <a:t>Can't break anything  —  </a:t>
            </a:r>
            <a:pPr indent="0" marL="0">
              <a:buNone/>
            </a:pPr>
            <a:r>
              <a:rPr lang="en-US" sz="1300" dirty="0">
                <a:solidFill>
                  <a:srgbClr val="1A1F36"/>
                </a:solidFill>
                <a:latin typeface="Calibri" pitchFamily="34" charset="0"/>
                <a:ea typeface="Calibri" pitchFamily="34" charset="-122"/>
                <a:cs typeface="Calibri" pitchFamily="34" charset="-120"/>
              </a:rPr>
              <a:t>Sandboxes are disposable. The only sin is not asking.</a:t>
            </a:r>
            <a:endParaRPr lang="en-US" sz="14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E2761"/>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66928" y="1188720"/>
            <a:ext cx="1920240" cy="1920240"/>
          </a:xfrm>
          <a:prstGeom prst="rect">
            <a:avLst/>
          </a:prstGeom>
        </p:spPr>
      </p:pic>
      <p:sp>
        <p:nvSpPr>
          <p:cNvPr id="3" name="Text 0"/>
          <p:cNvSpPr/>
          <p:nvPr/>
        </p:nvSpPr>
        <p:spPr>
          <a:xfrm>
            <a:off x="2926080" y="1234440"/>
            <a:ext cx="5760720" cy="73152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Go reclaim the idle.</a:t>
            </a:r>
            <a:endParaRPr lang="en-US" sz="3400" dirty="0"/>
          </a:p>
        </p:txBody>
      </p:sp>
      <p:sp>
        <p:nvSpPr>
          <p:cNvPr id="4" name="Text 1"/>
          <p:cNvSpPr/>
          <p:nvPr/>
        </p:nvSpPr>
        <p:spPr>
          <a:xfrm>
            <a:off x="2926080" y="2148840"/>
            <a:ext cx="5760720" cy="1737360"/>
          </a:xfrm>
          <a:prstGeom prst="rect">
            <a:avLst/>
          </a:prstGeom>
          <a:noFill/>
          <a:ln/>
        </p:spPr>
        <p:txBody>
          <a:bodyPr wrap="square" lIns="0" tIns="0" rIns="0" bIns="0" rtlCol="0" anchor="ctr"/>
          <a:lstStyle/>
          <a:p>
            <a:pPr indent="0" marL="0">
              <a:spcAft>
                <a:spcPts val="1000"/>
              </a:spcAft>
              <a:buNone/>
            </a:pPr>
            <a:r>
              <a:rPr lang="en-US" sz="1450" dirty="0">
                <a:solidFill>
                  <a:srgbClr val="CADCFC"/>
                </a:solidFill>
                <a:latin typeface="Calibri" pitchFamily="34" charset="0"/>
                <a:ea typeface="Calibri" pitchFamily="34" charset="-122"/>
                <a:cs typeface="Calibri" pitchFamily="34" charset="-120"/>
              </a:rPr>
              <a:t>Workshop repo + guides:  github.com/&lt;your-org&gt;/5-spot-workshop</a:t>
            </a:r>
            <a:endParaRPr lang="en-US" sz="1450" dirty="0"/>
          </a:p>
          <a:p>
            <a:pPr indent="0" marL="0">
              <a:spcAft>
                <a:spcPts val="1000"/>
              </a:spcAft>
              <a:buNone/>
            </a:pPr>
            <a:r>
              <a:rPr lang="en-US" sz="1450" b="1" dirty="0">
                <a:solidFill>
                  <a:srgbClr val="2EC4B6"/>
                </a:solidFill>
                <a:latin typeface="Calibri" pitchFamily="34" charset="0"/>
                <a:ea typeface="Calibri" pitchFamily="34" charset="-122"/>
                <a:cs typeface="Calibri" pitchFamily="34" charset="-120"/>
              </a:rPr>
              <a:t>Docs:  5spot.finos.org</a:t>
            </a:r>
            <a:endParaRPr lang="en-US" sz="1450" dirty="0"/>
          </a:p>
          <a:p>
            <a:pPr indent="0" marL="0">
              <a:spcAft>
                <a:spcPts val="1000"/>
              </a:spcAft>
              <a:buNone/>
            </a:pPr>
            <a:r>
              <a:rPr lang="en-US" sz="1450" dirty="0">
                <a:solidFill>
                  <a:srgbClr val="CADCFC"/>
                </a:solidFill>
                <a:latin typeface="Calibri" pitchFamily="34" charset="0"/>
                <a:ea typeface="Calibri" pitchFamily="34" charset="-122"/>
                <a:cs typeface="Calibri" pitchFamily="34" charset="-120"/>
              </a:rPr>
              <a:t>Project:  github.com/finos/5-spot  ·  #5-spot on FINOS Slack</a:t>
            </a:r>
            <a:endParaRPr lang="en-US" sz="1450" dirty="0"/>
          </a:p>
          <a:p>
            <a:pPr indent="0" marL="0">
              <a:spcAft>
                <a:spcPts val="1000"/>
              </a:spcAft>
              <a:buNone/>
            </a:pPr>
            <a:r>
              <a:rPr lang="en-US" sz="1450" i="1" dirty="0">
                <a:solidFill>
                  <a:srgbClr val="CADCFC"/>
                </a:solidFill>
                <a:latin typeface="Calibri" pitchFamily="34" charset="0"/>
                <a:ea typeface="Calibri" pitchFamily="34" charset="-122"/>
                <a:cs typeface="Calibri" pitchFamily="34" charset="-120"/>
              </a:rPr>
              <a:t>Issues, PRs, and war stories welcome — it's an incubating FINOS project.</a:t>
            </a:r>
            <a:endParaRPr lang="en-US" sz="1450" dirty="0"/>
          </a:p>
        </p:txBody>
      </p:sp>
      <p:sp>
        <p:nvSpPr>
          <p:cNvPr id="5" name="Text 2"/>
          <p:cNvSpPr/>
          <p:nvPr/>
        </p:nvSpPr>
        <p:spPr>
          <a:xfrm>
            <a:off x="566928" y="4526280"/>
            <a:ext cx="4572000" cy="365760"/>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Erick Bourgeois · OSFF · 24 June 2026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5-Spot Workshop — Reclaim the Idle</dc:title>
  <dc:subject>PptxGenJS Presentation</dc:subject>
  <dc:creator>Erick Bourgeois</dc:creator>
  <cp:lastModifiedBy>Erick Bourgeois</cp:lastModifiedBy>
  <cp:revision>1</cp:revision>
  <dcterms:created xsi:type="dcterms:W3CDTF">2026-06-10T02:15:34Z</dcterms:created>
  <dcterms:modified xsi:type="dcterms:W3CDTF">2026-06-10T02:15:34Z</dcterms:modified>
</cp:coreProperties>
</file>